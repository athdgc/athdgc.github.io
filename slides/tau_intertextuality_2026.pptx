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notesMaster" Target="notesMasters/notesMaster1.xml" /><Relationship Id="rId27" Type="http://schemas.openxmlformats.org/officeDocument/2006/relationships/viewProps" Target="viewProps.xml" /><Relationship Id="rId26" Type="http://schemas.openxmlformats.org/officeDocument/2006/relationships/presProps" Target="presProps.xml" /><Relationship Id="rId1" Type="http://schemas.openxmlformats.org/officeDocument/2006/relationships/slideMaster" Target="slideMasters/slideMaster1.xml" /><Relationship Id="rId29" Type="http://schemas.openxmlformats.org/officeDocument/2006/relationships/tableStyles" Target="tableStyles.xml" /><Relationship Id="rId2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Good morning. Thank you to Nachum, Kfir, and Kai for the invitation, and to the RUNI-TAU group for putting this symposium together. I am Nikolaos Lavidas from the National and Kapodistrian University of Athens, and I will speak today about diachronic Greek, about a particular hypothesis on written language contact, and about the AthDGC platform that operationalises both.</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Seven stops. I will spend most of the time on stops 3, 4, 5, 6. Stops 1, 2, 7 frame the rest.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Eleven authors, three universities. The PROIEL group at Oslo under Dag Haug and the Ghent comparative IE group under Leonid Kulikov are the international partners; the NKUA core is led by Kiki Nikiforidou and me, with three post-doctoral researchers (Vassiliki Geka, Vassileios Symeonidis, Theodoros Michalareas), three doctoral candidates (Sofia Chionidi, Anastasia Tsiropina, Eleni Plakoutsi), and one research assistant (Evangelos Argyropoulos).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bedrock for everything that follows. We cannot run an acceptability survey on Homer. We cannot ask a fluent Byzantine to judge whether a sentence is well-formed. Whatever we can say about the grammar of those periods, we have to recover from what writers wrote, and from how their text was copied, cited, retold, and retranslated by writers in later periods. That last sentence is already an intertextuality claim, and it is the bridge to today’s theme.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Hebrew studies, the parallel is exact: Mishnah quotes Tanakh; Talmud quotes Mishnah; mediaeval commentary quotes Talmud. For Buddhist Sanskrit and Tibetan, the same: a single sutra is rendered into Tibetan, into Chinese, into Mongolian, with each rendering registering the syntax of its receiving tradition. The pattern is universal. Greek just happens to have the longest continuous documented chain in the Indo-European family, and that is what makes it a useful laboratory.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of the three modes leaves a recoverable trace in the syntax. Retelling re-encodes the same propositional content in the grammar of a later period. Retranslation re-encodes the same propositional content in the grammar of a sister Indo-European language. Inner-textual citation embeds a frozen older clause into a host text whose grammar is younger. All three are queryable, if the corpus is annotated uniformly.</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central claim of the 2021 monograph and the lens through which AthDGC reads its own data. The hypothesis is that in oral contact one of the two grammars typically wins out within a generation or two. In written contact, the donor grammar persists alongside the recipient grammar for centuries, because written transmission has a copy-faithful mechanism that oral transmission lacks. The writer of a Byzantine homily on Paul is not choosing between Atticist syntax and his own vernacular: both are active, both are accessible, and the choice between them is register-driven, not displacement-driven.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an intertextuality programme, this is good news: the “physics” of written transmission is precisely what intertextuality detection systems already exploit. Copy-faithful mechanisms produce surface matches; prestige mechanisms produce learned-vocabulary clusters; citation mechanisms produce the explicit boundaries that probabilistic text-reuse detectors are tuned for. Diachronic syntax simply adds the structural dimension: the same propositional content, re-encoded into a syntactically different host.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PROIEL group at Oslo, under Dag Haug, established the schema in 2008. The 26 relations cover predication, subjects, objects, obliques, attributes, adverbials, vocatives, auxiliaries, all the coordination and apposition patterns, and the typological relations specific to early Indo-European such as ag (agent of a passive) and xobj (raised object of a control verb). The diachronic extension of that schema, that is the proposal to take the same inventory beyond Koine and Classical into Byzantine and later, goes back to the 2012 Thessaloniki-Oslo PROIEL pilot in which Dag Haug and I annotated a sample of Sphrantzes’ Chronicle (15th c. Late Byzantine) in PROIEL XML. The AthDGC v0.4 release ships that 2012 idea at full scale: same inventory, eight periods, 22-tag source-metadata header.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intertextuality work this is the part that pays off most. If you find a verse echo between two AthDGC partitions, the Text Id at each end gives you the edition, the printed citation, the editor, the digitisation, and the manuscript reference, all in one identifier. The metadata register sits behind the Text Id; it is the bridge between the computational object and the philological record.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pieces, in plain words. The annotation pipeline is the core: Greek sentence in, PROIEL XML tree out. The morphological tagger is Stanza, which is Stanford’s open Python toolkit for natural language processing; we use its PROIEL-trained Greek model. The AI review loop is the part that lets the project run at marathon scale without losing quality: every uncertain call is flagged, sent to a large language model (Claude Haiku, currently) for a second opinion, and the human annotator only has to approve, reject, or amend. The dashboard reads the live ARIS state every three minutes; I will not screen-share it, but it is the picture behind the numbers on slide 11.</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flight” means the marathon is actively producing them on ARIS, this week. The samples on the public site are real; the full audited cuts release at v0.5.0. For Classical Armenian: the workflow is in place but the alignment itself is still being built; that lands in the v0.5 cut.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public site, the GitHub organisation, the PROIEL viewer at NKUA, the arXiv preprint, and the Zenodo deposition are all live; you can pull any one of them up while we are speaking.</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At this size AthDGC is already the largest annotated diachronic Greek corpus in existence (Diorisis at 10.2 M is the previous reference point), the largest PROIEL-style dependency-parsed corpus of any language, and the only diachronic corpus that covers a 3000-year continuous span on one schema. The v0.5 cut takes the lead from 0.7 M to ~6 M tokens.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thread is a real chain of real partitions. A and C are useful for retelling-and-retranslation; B is useful for cross-lingual IE structural comparison. Together they cover the three modes I listed earlier.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that should land most directly with the TAU and RUNI audience. The Septuagint is a hinge: a translation that becomes a source, and a translation that carries Hebrew syntactic structure into the entire later Christian translation tradition. In AthDGC it sits inside the Koine partition, and it is the spine of Thread C.</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two phenomena I can speak to with confidence because the second has my own published account behind it (Lavidas 2019). The first, paratactic καί as a calque of the waw-consecutive, is a standard finding in Septuagint Greek studies (Conybeare and Stock, Thackeray, Aitken). The PROIEL annotation makes both testable at scale: clause-initial coordination is one query; agreement controllers and targets are another. The same queries then run on the Vulgate, Gothic, and OCS partitions, and we can ask whether the calques propagate or whether each receiving tradition restructures them.</a:t>
            </a:r>
          </a:p>
          <a:p>
            <a:pPr lvl="0" indent="0" marL="0">
              <a:buNone/>
            </a:pPr>
          </a:p>
          <a:p>
            <a:pPr lvl="0" indent="0" marL="0">
              <a:buNone/>
            </a:pPr>
            <a:r>
              <a:rPr/>
              <a:t>For the Hebrew studies side of the room: this is the entry point. The Hebrew source of LXX is not in AthDGC (we are not a Hebrew corpus). But the AthDGC LXX partition is the immediate downstream witness of that Hebrew source, and the syntactic profile of the LXX is, in part, a profile of its Hebrew source as filtered through the translators’ choices. Collaboration on that filter is one of the things I would like this symposium to seed.</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where the audience sees the hypothesis in action on a sentence they know. Hebrew waw-consecutive (the wayyiqtol form) is the Hebrew narrative backbone: clause after clause after clause, each beginning with the conjunction waw plus a prefix-conjugation verb. Greek does not work that way. Classical Greek prose chains clauses by subordination, with participles, with μέν / δέ, with temporal clauses. The Septuagint translators choose a third option: they calque the Hebrew structure directly, with clause-initial καί + finite verb. That is a Hebrew structure wearing Greek vocabulary. And the New Testament writers, who learn their literary Greek from the Septuagint, absorb the same pattern. So this small καί propagates into Mark, into John, and from there into the Vulgate, the Wulfila Gothic, the Old Church Slavonic Marianus, and into Classical Armenian. The same καί. The same Hebrew grammatical structure, travelling across five Indo-European branches by way of the Septuagint.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picture. Three thousand years of Greek, eight periods, all on the same PROIEL XML 2.0 schema. The Koine box is highlighted because that is where the Septuagint and the New Testament sit, and that is the hinge of the whole chain: a Greek translation that absorbs a Hebrew structural calque and then exports it eastward into Wulfila, into Marianus, into the Armenian Bible.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fourth point is where I would like to find collaborators in this room. The pipeline is open. The metadata register is open. The schema is the PROIEL schema, which is already used outside Greek for early Indo-European; nothing in it is Greek-specific.</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Thank you. I am happy to talk about pipeline reuse for Hebrew, Sanskrit, or Tibetan corpora, about the parallel-coexistent-grammars hypothesis, or about the technical side of running PROIEL annotation at this scale.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athdgc.github.io" TargetMode="External" /><Relationship Id="rId4" Type="http://schemas.openxmlformats.org/officeDocument/2006/relationships/hyperlink" Target="https://github.com/AthDGC/athdgc-corpus" TargetMode="External" /><Relationship Id="rId5" Type="http://schemas.openxmlformats.org/officeDocument/2006/relationships/hyperlink" Target="https://github.com/AthDGC" TargetMode="External" /><Relationship Id="rId6" Type="http://schemas.openxmlformats.org/officeDocument/2006/relationships/hyperlink" Target="https://dialing.enl.uoa.gr/proiel/" TargetMode="Externa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Intertextuality in diachronic Greek</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What AthDGC contributes; Symposium on Computational Methods for Intertextuality, Tel Aviv University, 22 June 2026</a:t>
            </a:r>
            <a:br/>
            <a:br/>
            <a:r>
              <a:rPr/>
              <a:t>Nikolaos Lavidas</a:t>
            </a:r>
          </a:p>
        </p:txBody>
      </p:sp>
      <p:sp>
        <p:nvSpPr>
          <p:cNvPr id="4" name="Date Placeholder 3"/>
          <p:cNvSpPr>
            <a:spLocks noGrp="1"/>
          </p:cNvSpPr>
          <p:nvPr>
            <p:ph idx="10" sz="half" type="dt"/>
          </p:nvPr>
        </p:nvSpPr>
        <p:spPr/>
        <p:txBody>
          <a:bodyPr/>
          <a:lstStyle/>
          <a:p>
            <a:pPr lvl="0" indent="0" marL="0">
              <a:buNone/>
            </a:pPr>
            <a:r>
              <a:rPr/>
              <a:t>June 22,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Intertextuality in diachronic Greek</a:t>
            </a:r>
          </a:p>
        </p:txBody>
      </p:sp>
      <p:sp>
        <p:nvSpPr>
          <p:cNvPr id="3" name="Content Placeholder 2"/>
          <p:cNvSpPr>
            <a:spLocks noGrp="1"/>
          </p:cNvSpPr>
          <p:nvPr>
            <p:ph idx="1"/>
          </p:nvPr>
        </p:nvSpPr>
        <p:spPr/>
        <p:txBody>
          <a:bodyPr/>
          <a:lstStyle/>
          <a:p>
            <a:pPr lvl="0" indent="0" marL="0">
              <a:buNone/>
            </a:pPr>
            <a:r>
              <a:rPr/>
              <a:t>What AthDGC contributes</a:t>
            </a:r>
          </a:p>
          <a:p>
            <a:pPr lvl="0" indent="0" marL="0">
              <a:buNone/>
            </a:pPr>
            <a:r>
              <a:rPr/>
              <a:t>Nikolaos Lavidas, NKUA Athens Digital Glossa Chronos Research Network </a:t>
            </a:r>
            <a:r>
              <a:rPr i="1"/>
              <a:t>Διαχρονία Γλώσσας :Χρόνος</a:t>
            </a:r>
          </a:p>
          <a:p>
            <a:pPr lvl="0" indent="0" marL="0">
              <a:buNone/>
            </a:pPr>
            <a:r>
              <a:rPr/>
              <a:t>HFRI Project No. 20577 · Greece 2.0 NRRP · Compute GRNET ARIS pa260305</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Roadpath</a:t>
            </a:r>
          </a:p>
        </p:txBody>
      </p:sp>
      <p:sp>
        <p:nvSpPr>
          <p:cNvPr id="3" name="Content Placeholder 2"/>
          <p:cNvSpPr>
            <a:spLocks noGrp="1"/>
          </p:cNvSpPr>
          <p:nvPr>
            <p:ph idx="1"/>
          </p:nvPr>
        </p:nvSpPr>
        <p:spPr/>
        <p:txBody>
          <a:bodyPr/>
          <a:lstStyle/>
          <a:p>
            <a:pPr lvl="0" indent="-342900" marL="342900">
              <a:buAutoNum type="arabicPeriod"/>
            </a:pPr>
            <a:r>
              <a:rPr/>
              <a:t>The premise. Historical linguistics works on texts, not speakers.</a:t>
            </a:r>
          </a:p>
          <a:p>
            <a:pPr lvl="0" indent="-342900" marL="342900">
              <a:buAutoNum type="arabicPeriod"/>
            </a:pPr>
            <a:r>
              <a:rPr/>
              <a:t>What intertextuality means inside a diachronic-Greek setting.</a:t>
            </a:r>
          </a:p>
          <a:p>
            <a:pPr lvl="0" indent="-342900" marL="342900">
              <a:buAutoNum type="arabicPeriod"/>
            </a:pPr>
            <a:r>
              <a:rPr/>
              <a:t>Three modes: retelling, retranslation, inner-textual citation.</a:t>
            </a:r>
          </a:p>
          <a:p>
            <a:pPr lvl="0" indent="-342900" marL="342900">
              <a:buAutoNum type="arabicPeriod"/>
            </a:pPr>
            <a:r>
              <a:rPr/>
              <a:t>The hypothesis: parallel coexistent grammars in written contact (Lavidas 2021, Brill).</a:t>
            </a:r>
          </a:p>
          <a:p>
            <a:pPr lvl="0" indent="-342900" marL="342900">
              <a:buAutoNum type="arabicPeriod"/>
            </a:pPr>
            <a:r>
              <a:rPr/>
              <a:t>How AthDGC operationalises the hypothesis: one PROIEL schema across 3000 years.</a:t>
            </a:r>
          </a:p>
          <a:p>
            <a:pPr lvl="0" indent="-342900" marL="342900">
              <a:buAutoNum type="arabicPeriod"/>
            </a:pPr>
            <a:r>
              <a:rPr/>
              <a:t>Concrete platform, concrete numbers, three threads through the corpus.</a:t>
            </a:r>
          </a:p>
          <a:p>
            <a:pPr lvl="0" indent="-342900" marL="342900">
              <a:buAutoNum type="arabicPeriod"/>
            </a:pPr>
            <a:r>
              <a:rPr/>
              <a:t>What this offers a computational-intertextuality programme.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AthDGC team</a:t>
            </a:r>
          </a:p>
        </p:txBody>
      </p:sp>
      <p:sp>
        <p:nvSpPr>
          <p:cNvPr id="3" name="Content Placeholder 2"/>
          <p:cNvSpPr>
            <a:spLocks noGrp="1"/>
          </p:cNvSpPr>
          <p:nvPr>
            <p:ph idx="1"/>
          </p:nvPr>
        </p:nvSpPr>
        <p:spPr/>
        <p:txBody>
          <a:bodyPr/>
          <a:lstStyle/>
          <a:p>
            <a:pPr lvl="0" indent="0" marL="0">
              <a:buNone/>
            </a:pPr>
            <a:r>
              <a:rPr b="1"/>
              <a:t>Nikolaos Lavidas</a:t>
            </a:r>
            <a:r>
              <a:rPr/>
              <a:t> (PI, NKUA) · </a:t>
            </a:r>
            <a:r>
              <a:rPr b="1"/>
              <a:t>Kiki Nikiforidou</a:t>
            </a:r>
            <a:r>
              <a:rPr/>
              <a:t> (NKUA) </a:t>
            </a:r>
            <a:r>
              <a:rPr b="1"/>
              <a:t>Dag Haug</a:t>
            </a:r>
            <a:r>
              <a:rPr/>
              <a:t> (Oslo, PROIEL Director) · </a:t>
            </a:r>
            <a:r>
              <a:rPr b="1"/>
              <a:t>Leonid Kulikov</a:t>
            </a:r>
            <a:r>
              <a:rPr/>
              <a:t> (Ghent) </a:t>
            </a:r>
            <a:r>
              <a:rPr b="1"/>
              <a:t>Vassiliki Geka</a:t>
            </a:r>
            <a:r>
              <a:rPr/>
              <a:t> (NKUA) · </a:t>
            </a:r>
            <a:r>
              <a:rPr b="1"/>
              <a:t>Vassileios Symeonidis</a:t>
            </a:r>
            <a:r>
              <a:rPr/>
              <a:t> (NKUA) · </a:t>
            </a:r>
            <a:r>
              <a:rPr b="1"/>
              <a:t>Theodoros Michalareas</a:t>
            </a:r>
            <a:r>
              <a:rPr/>
              <a:t> (NKUA) </a:t>
            </a:r>
            <a:r>
              <a:rPr b="1"/>
              <a:t>Sofia Chionidi</a:t>
            </a:r>
            <a:r>
              <a:rPr/>
              <a:t> (NKUA) · </a:t>
            </a:r>
            <a:r>
              <a:rPr b="1"/>
              <a:t>Anastasia Tsiropina</a:t>
            </a:r>
            <a:r>
              <a:rPr/>
              <a:t> (NKUA) · </a:t>
            </a:r>
            <a:r>
              <a:rPr b="1"/>
              <a:t>Eleni Plakoutsi</a:t>
            </a:r>
            <a:r>
              <a:rPr/>
              <a:t> (NKUA) · </a:t>
            </a:r>
            <a:r>
              <a:rPr b="1"/>
              <a:t>Evangelos Argyropoulos</a:t>
            </a:r>
            <a:r>
              <a:rPr/>
              <a:t> (NKUA)</a:t>
            </a:r>
          </a:p>
          <a:p>
            <a:pPr lvl="0" indent="0" marL="0">
              <a:buNone/>
            </a:pPr>
            <a:r>
              <a:rPr/>
              <a:t>Three universities (NKUA · Oslo · Ghent); eleven researchers; one platform. HFRI Project No. 20577 · Greece 2.0 NRRP.</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The premise</a:t>
            </a:r>
          </a:p>
        </p:txBody>
      </p:sp>
      <p:sp>
        <p:nvSpPr>
          <p:cNvPr id="3" name="Content Placeholder 2"/>
          <p:cNvSpPr>
            <a:spLocks noGrp="1"/>
          </p:cNvSpPr>
          <p:nvPr>
            <p:ph idx="1"/>
          </p:nvPr>
        </p:nvSpPr>
        <p:spPr/>
        <p:txBody>
          <a:bodyPr/>
          <a:lstStyle/>
          <a:p>
            <a:pPr lvl="0" indent="0" marL="0">
              <a:buNone/>
            </a:pPr>
            <a:r>
              <a:rPr/>
              <a:t>Historical linguistics has </a:t>
            </a:r>
            <a:r>
              <a:rPr b="1"/>
              <a:t>no native speakers</a:t>
            </a:r>
            <a:r>
              <a:rPr/>
              <a:t>. It has only </a:t>
            </a:r>
            <a:r>
              <a:rPr b="1"/>
              <a:t>texts</a:t>
            </a:r>
            <a:r>
              <a:rPr/>
              <a:t>.</a:t>
            </a:r>
          </a:p>
          <a:p>
            <a:pPr lvl="0" indent="0" marL="0">
              <a:buNone/>
            </a:pPr>
            <a:r>
              <a:rPr/>
              <a:t>The only window onto Archaic, Classical, Koine, Late Antique, Byzantine, Late Byzantine, and Early Modern Greek is the written record. Every claim about the syntax of a period reduces to a claim about what its surviving texts permit and what they exclude.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Intertextuality in a diachronic-Greek setting</a:t>
            </a:r>
          </a:p>
        </p:txBody>
      </p:sp>
      <p:sp>
        <p:nvSpPr>
          <p:cNvPr id="3" name="Content Placeholder 2"/>
          <p:cNvSpPr>
            <a:spLocks noGrp="1"/>
          </p:cNvSpPr>
          <p:nvPr>
            <p:ph idx="1"/>
          </p:nvPr>
        </p:nvSpPr>
        <p:spPr/>
        <p:txBody>
          <a:bodyPr/>
          <a:lstStyle/>
          <a:p>
            <a:pPr lvl="0" indent="0" marL="0">
              <a:buNone/>
            </a:pPr>
            <a:r>
              <a:rPr/>
              <a:t>In a corpus that spans </a:t>
            </a:r>
            <a:r>
              <a:rPr b="1"/>
              <a:t>3000 years on one language</a:t>
            </a:r>
            <a:r>
              <a:rPr/>
              <a:t>, intertextuality is not a stylistic ornament. It is the </a:t>
            </a:r>
            <a:r>
              <a:rPr b="1"/>
              <a:t>primary data-generating process</a:t>
            </a:r>
            <a:r>
              <a:rPr/>
              <a:t>.</a:t>
            </a:r>
          </a:p>
          <a:p>
            <a:pPr lvl="0" indent="0" marL="0">
              <a:buNone/>
            </a:pPr>
            <a:r>
              <a:rPr/>
              <a:t>The same canon is </a:t>
            </a:r>
            <a:r>
              <a:rPr b="1"/>
              <a:t>re-rendered</a:t>
            </a:r>
            <a:r>
              <a:rPr/>
              <a:t> by every generation:</a:t>
            </a:r>
          </a:p>
          <a:p>
            <a:pPr lvl="0"/>
            <a:r>
              <a:rPr/>
              <a:t>the same Homeric verse is paraphrased by Byzantine schoolbooks;</a:t>
            </a:r>
          </a:p>
          <a:p>
            <a:pPr lvl="0"/>
            <a:r>
              <a:rPr/>
              <a:t>the same Pauline epistle is retranslated into Modern Greek every century;</a:t>
            </a:r>
          </a:p>
          <a:p>
            <a:pPr lvl="0"/>
            <a:r>
              <a:rPr/>
              <a:t>the same Septuagint formula is quoted, glossed, and inflected toward each period’s spoken grammar.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Three modes</a:t>
            </a:r>
          </a:p>
        </p:txBody>
      </p:sp>
      <p:sp>
        <p:nvSpPr>
          <p:cNvPr id="3" name="Content Placeholder 2"/>
          <p:cNvSpPr>
            <a:spLocks noGrp="1"/>
          </p:cNvSpPr>
          <p:nvPr>
            <p:ph idx="1"/>
          </p:nvPr>
        </p:nvSpPr>
        <p:spPr/>
        <p:txBody>
          <a:bodyPr/>
          <a:lstStyle/>
          <a:p>
            <a:pPr lvl="0" indent="0" marL="0">
              <a:buNone/>
            </a:pPr>
            <a:r>
              <a:rPr b="1"/>
              <a:t>Retelling.</a:t>
            </a:r>
            <a:r>
              <a:rPr/>
              <a:t> Same language, later century. Same story, new register. </a:t>
            </a:r>
            <a:r>
              <a:rPr i="1"/>
              <a:t>(Niketas Choniates retelling Homer in 12th c. Byzantine epitome.)</a:t>
            </a:r>
          </a:p>
          <a:p>
            <a:pPr lvl="0" indent="0" marL="0">
              <a:buNone/>
            </a:pPr>
            <a:r>
              <a:rPr b="1"/>
              <a:t>Retranslation.</a:t>
            </a:r>
            <a:r>
              <a:rPr/>
              <a:t> Same canon, target language shifts. </a:t>
            </a:r>
            <a:r>
              <a:rPr i="1"/>
              <a:t>(Hebrew Bible → Greek Septuagint → Latin Vulgate → Gothic Wulfila → OCS Marianus → Classical Armenian.)</a:t>
            </a:r>
          </a:p>
          <a:p>
            <a:pPr lvl="0" indent="0" marL="0">
              <a:buNone/>
            </a:pPr>
            <a:r>
              <a:rPr b="1"/>
              <a:t>Inner-textual citation.</a:t>
            </a:r>
            <a:r>
              <a:rPr/>
              <a:t> Surface re-use of one text inside another. </a:t>
            </a:r>
            <a:r>
              <a:rPr i="1"/>
              <a:t>(NT quoting LXX; Patristic homily quoting NT; Byzantine chronicle quoting Patristic.)</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The hypothesis</a:t>
            </a:r>
          </a:p>
        </p:txBody>
      </p:sp>
      <p:sp>
        <p:nvSpPr>
          <p:cNvPr id="3" name="Content Placeholder 2"/>
          <p:cNvSpPr>
            <a:spLocks noGrp="1"/>
          </p:cNvSpPr>
          <p:nvPr>
            <p:ph idx="1"/>
          </p:nvPr>
        </p:nvSpPr>
        <p:spPr/>
        <p:txBody>
          <a:bodyPr/>
          <a:lstStyle/>
          <a:p>
            <a:pPr lvl="0" indent="0" marL="0">
              <a:buNone/>
            </a:pPr>
            <a:r>
              <a:rPr/>
              <a:t>Under sustained </a:t>
            </a:r>
            <a:r>
              <a:rPr b="1"/>
              <a:t>written language contact</a:t>
            </a:r>
            <a:r>
              <a:rPr/>
              <a:t>, donor and recipient grammars do not displace one another. They </a:t>
            </a:r>
            <a:r>
              <a:rPr b="1"/>
              <a:t>coexist</a:t>
            </a:r>
            <a:r>
              <a:rPr/>
              <a:t> as distinct active systems inside the same writer.</a:t>
            </a:r>
          </a:p>
          <a:p>
            <a:pPr lvl="0" indent="0" marL="0">
              <a:buNone/>
            </a:pPr>
            <a:r>
              <a:rPr/>
              <a:t>Lavidas, N. 2021. </a:t>
            </a:r>
            <a:r>
              <a:rPr i="1"/>
              <a:t>The Diachrony of Written Language Contact: A Contrastive Approach</a:t>
            </a:r>
            <a:r>
              <a:rPr/>
              <a:t>. Brill’s Studies in Historical Linguistics. Leiden, Boston: Brill.</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Why “written” matters</a:t>
            </a:r>
          </a:p>
        </p:txBody>
      </p:sp>
      <p:sp>
        <p:nvSpPr>
          <p:cNvPr id="3" name="Content Placeholder 2"/>
          <p:cNvSpPr>
            <a:spLocks noGrp="1"/>
          </p:cNvSpPr>
          <p:nvPr>
            <p:ph idx="1"/>
          </p:nvPr>
        </p:nvSpPr>
        <p:spPr/>
        <p:txBody>
          <a:bodyPr/>
          <a:lstStyle/>
          <a:p>
            <a:pPr lvl="0" indent="0" marL="0">
              <a:buNone/>
            </a:pPr>
            <a:r>
              <a:rPr/>
              <a:t>Written transmission has its own physics:</a:t>
            </a:r>
          </a:p>
          <a:p>
            <a:pPr lvl="0"/>
            <a:r>
              <a:rPr b="1"/>
              <a:t>prestige standards</a:t>
            </a:r>
            <a:r>
              <a:rPr/>
              <a:t> (Atticism, Byzantine Hochsprache);</a:t>
            </a:r>
          </a:p>
          <a:p>
            <a:pPr lvl="0"/>
            <a:r>
              <a:rPr b="1"/>
              <a:t>copying chains</a:t>
            </a:r>
            <a:r>
              <a:rPr/>
              <a:t> with attested manuscript stemmata;</a:t>
            </a:r>
          </a:p>
          <a:p>
            <a:pPr lvl="0"/>
            <a:r>
              <a:rPr b="1"/>
              <a:t>citation as authority</a:t>
            </a:r>
            <a:r>
              <a:rPr/>
              <a:t> (citing scripture </a:t>
            </a:r>
            <a:r>
              <a:rPr i="1"/>
              <a:t>as scripture</a:t>
            </a:r>
            <a:r>
              <a:rPr/>
              <a:t>);</a:t>
            </a:r>
          </a:p>
          <a:p>
            <a:pPr lvl="0"/>
            <a:r>
              <a:rPr b="1"/>
              <a:t>resistance to vernacular pressure</a:t>
            </a:r>
            <a:r>
              <a:rPr/>
              <a:t> at literate registers.</a:t>
            </a:r>
          </a:p>
          <a:p>
            <a:pPr lvl="0" indent="0" marL="0">
              <a:buNone/>
            </a:pPr>
            <a:r>
              <a:rPr/>
              <a:t>Each of these leaves a different signature in the syntactic record.</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6. One schema across 3000 years</a:t>
            </a:r>
          </a:p>
        </p:txBody>
      </p:sp>
      <p:sp>
        <p:nvSpPr>
          <p:cNvPr id="3" name="Content Placeholder 2"/>
          <p:cNvSpPr>
            <a:spLocks noGrp="1"/>
          </p:cNvSpPr>
          <p:nvPr>
            <p:ph idx="1"/>
          </p:nvPr>
        </p:nvSpPr>
        <p:spPr/>
        <p:txBody>
          <a:bodyPr/>
          <a:lstStyle/>
          <a:p>
            <a:pPr lvl="0" indent="0" marL="0">
              <a:buNone/>
            </a:pPr>
            <a:r>
              <a:rPr b="1"/>
              <a:t>PROIEL XML 2.0</a:t>
            </a:r>
            <a:r>
              <a:rPr/>
              <a:t> is the file format that stores each sentence as a tree of word-by-word grammatical relations. Developed at Oslo for the early Indo-European languages; extended in AthDGC to all of Greek.</a:t>
            </a:r>
          </a:p>
          <a:p>
            <a:pPr lvl="0" indent="0" marL="0">
              <a:buNone/>
            </a:pPr>
            <a:r>
              <a:rPr/>
              <a:t>The same 26-relation inventory annotates:</a:t>
            </a:r>
          </a:p>
          <a:p>
            <a:pPr lvl="0"/>
            <a:r>
              <a:rPr/>
              <a:t>Homer (8th c. BCE)</a:t>
            </a:r>
          </a:p>
          <a:p>
            <a:pPr lvl="0"/>
            <a:r>
              <a:rPr/>
              <a:t>the New Testament (1st c. CE)</a:t>
            </a:r>
          </a:p>
          <a:p>
            <a:pPr lvl="0"/>
            <a:r>
              <a:rPr/>
              <a:t>Sphrantzes’ Chronicle (15th c. CE)</a:t>
            </a:r>
          </a:p>
          <a:p>
            <a:pPr lvl="0"/>
            <a:r>
              <a:rPr/>
              <a:t>the Modern Greek standard (21st c. CE)</a:t>
            </a:r>
          </a:p>
          <a:p>
            <a:pPr lvl="0" indent="0" marL="0">
              <a:buNone/>
            </a:pPr>
            <a:r>
              <a:rPr b="1"/>
              <a:t>One schema; eight periods; queryable comparison.</a:t>
            </a:r>
          </a:p>
          <a:p>
            <a:pPr lvl="0" indent="0" marL="0">
              <a:buNone/>
            </a:pPr>
            <a:r>
              <a:rPr/>
              <a:t>The diachronic extension was first proposed by Lavidas and Haug (2012, Thessaloniki-Oslo PROIEL pilot on Sphrantzes’ Chronicle). AthDGC v0.4 ships that 2012 idea, generalised to the full diachronic span.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Text Id</a:t>
            </a:r>
          </a:p>
        </p:txBody>
      </p:sp>
      <p:sp>
        <p:nvSpPr>
          <p:cNvPr id="3" name="Content Placeholder 2"/>
          <p:cNvSpPr>
            <a:spLocks noGrp="1"/>
          </p:cNvSpPr>
          <p:nvPr>
            <p:ph idx="1"/>
          </p:nvPr>
        </p:nvSpPr>
        <p:spPr/>
        <p:txBody>
          <a:bodyPr/>
          <a:lstStyle/>
          <a:p>
            <a:pPr lvl="0" indent="0" marL="0">
              <a:buNone/>
            </a:pPr>
            <a:r>
              <a:rPr/>
              <a:t>Every partition carries a </a:t>
            </a:r>
            <a:r>
              <a:rPr b="1"/>
              <a:t>stable identity</a:t>
            </a:r>
            <a:r>
              <a:rPr/>
              <a:t>:</a:t>
            </a:r>
          </a:p>
          <a:p>
            <a:pPr lvl="0" indent="0" marL="0">
              <a:buNone/>
            </a:pPr>
            <a:r>
              <a:rPr/>
              <a:t>athdgc.&lt;author&gt;.&lt;work&gt;.&lt;src_lang&gt;.&lt;tgt_lang&gt;.&lt;translator&gt;.v&lt;revision&gt;</a:t>
            </a:r>
          </a:p>
          <a:p>
            <a:pPr lvl="0" indent="0" marL="0">
              <a:buNone/>
            </a:pPr>
            <a:r>
              <a:rPr/>
              <a:t>Example:</a:t>
            </a:r>
          </a:p>
          <a:p>
            <a:pPr lvl="0" indent="0" marL="0">
              <a:buNone/>
            </a:pPr>
            <a:r>
              <a:rPr/>
              <a:t>athdgc.017.001.grc.000.000.v1 (Sphrantzes, Chronicle, Greek)</a:t>
            </a:r>
          </a:p>
          <a:p>
            <a:pPr lvl="0" indent="0" marL="0">
              <a:buNone/>
            </a:pPr>
            <a:r>
              <a:rPr/>
              <a:t>Every Text Id resolves to a row in a metadata register, to a source edition, and to a citable printed reference.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What is built (tools)</a:t>
            </a:r>
          </a:p>
        </p:txBody>
      </p:sp>
      <p:sp>
        <p:nvSpPr>
          <p:cNvPr id="3" name="Content Placeholder 2"/>
          <p:cNvSpPr>
            <a:spLocks noGrp="1"/>
          </p:cNvSpPr>
          <p:nvPr>
            <p:ph idx="1"/>
          </p:nvPr>
        </p:nvSpPr>
        <p:spPr/>
        <p:txBody>
          <a:bodyPr/>
          <a:lstStyle/>
          <a:p>
            <a:pPr lvl="0"/>
            <a:r>
              <a:rPr/>
              <a:t>An </a:t>
            </a:r>
            <a:r>
              <a:rPr b="1"/>
              <a:t>annotation pipeline</a:t>
            </a:r>
            <a:r>
              <a:rPr/>
              <a:t> that reads a Greek sentence and emits PROIEL XML 2.0 (the file format that stores each sentence as a tree of word-by-word grammatical relations, developed at Oslo).</a:t>
            </a:r>
          </a:p>
          <a:p>
            <a:pPr lvl="0"/>
            <a:r>
              <a:rPr/>
              <a:t>A </a:t>
            </a:r>
            <a:r>
              <a:rPr b="1"/>
              <a:t>morphological tagger</a:t>
            </a:r>
            <a:r>
              <a:rPr/>
              <a:t> (Stanford </a:t>
            </a:r>
            <a:r>
              <a:rPr b="1"/>
              <a:t>Stanza</a:t>
            </a:r>
            <a:r>
              <a:rPr/>
              <a:t>, in its PROIEL-trained version), which produces lemma + part-of-speech + features automatically.</a:t>
            </a:r>
          </a:p>
          <a:p>
            <a:pPr lvl="0"/>
            <a:r>
              <a:rPr/>
              <a:t>An </a:t>
            </a:r>
            <a:r>
              <a:rPr b="1"/>
              <a:t>AI second-opinion review loop</a:t>
            </a:r>
            <a:r>
              <a:rPr/>
              <a:t>: uncertain annotations are flagged and re-checked by a large language model, then approved by a human.</a:t>
            </a:r>
          </a:p>
          <a:p>
            <a:pPr lvl="0"/>
            <a:r>
              <a:rPr/>
              <a:t>A </a:t>
            </a:r>
            <a:r>
              <a:rPr b="1"/>
              <a:t>live dashboard</a:t>
            </a:r>
            <a:r>
              <a:rPr/>
              <a:t> that shows token counts and per-period progress in real time as the annotation runs.</a:t>
            </a:r>
          </a:p>
          <a:p>
            <a:pPr lvl="0" indent="0" marL="0">
              <a:buNone/>
            </a:pPr>
            <a:r>
              <a:rPr/>
              <a:t>All open source. MIT · Apache 2.0 · BSD.</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What is built (corpus)</a:t>
            </a:r>
          </a:p>
        </p:txBody>
      </p:sp>
      <p:sp>
        <p:nvSpPr>
          <p:cNvPr id="3" name="Content Placeholder 2"/>
          <p:cNvSpPr>
            <a:spLocks noGrp="1"/>
          </p:cNvSpPr>
          <p:nvPr>
            <p:ph idx="1"/>
          </p:nvPr>
        </p:nvSpPr>
        <p:spPr/>
        <p:txBody>
          <a:bodyPr/>
          <a:lstStyle/>
          <a:p>
            <a:pPr lvl="0" indent="0" marL="0">
              <a:buNone/>
            </a:pPr>
            <a:r>
              <a:rPr/>
              <a:t>Eight diachronic periods, all on one PROIEL XML 2.0 spine:</a:t>
            </a:r>
          </a:p>
          <a:p>
            <a:pPr lvl="0" indent="0" marL="0">
              <a:buNone/>
            </a:pPr>
            <a:r>
              <a:rPr/>
              <a:t>New Testament verse-level alignment (cross-alignment: machine-readable matching of corresponding sentences and words between texts in different languages):</a:t>
            </a:r>
          </a:p>
          <a:p>
            <a:pPr lvl="0"/>
            <a:r>
              <a:rPr/>
              <a:t>to </a:t>
            </a:r>
            <a:r>
              <a:rPr b="1"/>
              <a:t>Latin</a:t>
            </a:r>
            <a:r>
              <a:rPr/>
              <a:t> (Vulgate), </a:t>
            </a:r>
            <a:r>
              <a:rPr b="1"/>
              <a:t>Gothic</a:t>
            </a:r>
            <a:r>
              <a:rPr/>
              <a:t> (Wulfila), </a:t>
            </a:r>
            <a:r>
              <a:rPr b="1"/>
              <a:t>Old Church Slavonic</a:t>
            </a:r>
            <a:r>
              <a:rPr/>
              <a:t> (Marianus): aligned in v0.4;</a:t>
            </a:r>
          </a:p>
          <a:p>
            <a:pPr lvl="0"/>
            <a:r>
              <a:rPr/>
              <a:t>to </a:t>
            </a:r>
            <a:r>
              <a:rPr b="1"/>
              <a:t>Classical Armenian</a:t>
            </a:r>
            <a:r>
              <a:rPr/>
              <a:t>: workflow established, alignment in ingestion for v0.5.</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 What is built (platform)</a:t>
            </a:r>
          </a:p>
        </p:txBody>
      </p:sp>
      <p:sp>
        <p:nvSpPr>
          <p:cNvPr id="3" name="Content Placeholder 2"/>
          <p:cNvSpPr>
            <a:spLocks noGrp="1"/>
          </p:cNvSpPr>
          <p:nvPr>
            <p:ph idx="1"/>
          </p:nvPr>
        </p:nvSpPr>
        <p:spPr/>
        <p:txBody>
          <a:bodyPr/>
          <a:lstStyle/>
          <a:p>
            <a:pPr lvl="0"/>
            <a:r>
              <a:rPr/>
              <a:t>Public showcase: </a:t>
            </a:r>
            <a:r>
              <a:rPr b="1"/>
              <a:t>athdgc.github.io</a:t>
            </a:r>
          </a:p>
          <a:p>
            <a:pPr lvl="0"/>
            <a:r>
              <a:rPr/>
              <a:t>Corpus repository: </a:t>
            </a:r>
            <a:r>
              <a:rPr b="1"/>
              <a:t>github.com/AthDGC/athdgc-corpus</a:t>
            </a:r>
            <a:r>
              <a:rPr/>
              <a:t> (closed during v0.5 audit)</a:t>
            </a:r>
          </a:p>
          <a:p>
            <a:pPr lvl="0"/>
            <a:r>
              <a:rPr/>
              <a:t>Live PROIEL viewer: </a:t>
            </a:r>
            <a:r>
              <a:rPr b="1"/>
              <a:t>dialing.enl.uoa.gr/proiel/</a:t>
            </a:r>
          </a:p>
          <a:p>
            <a:pPr lvl="0"/>
            <a:r>
              <a:rPr/>
              <a:t>Launch report: </a:t>
            </a:r>
            <a:r>
              <a:rPr b="1"/>
              <a:t>arXiv cs.CL</a:t>
            </a:r>
            <a:r>
              <a:rPr/>
              <a:t> (published 11 Jun 2026)</a:t>
            </a:r>
          </a:p>
          <a:p>
            <a:pPr lvl="0"/>
            <a:r>
              <a:rPr/>
              <a:t>Permanent identifier: </a:t>
            </a:r>
            <a:r>
              <a:rPr b="1"/>
              <a:t>Zenodo concept DOI 10.5281/zenodo.20439182</a:t>
            </a:r>
          </a:p>
          <a:p>
            <a:pPr lvl="0" indent="0" marL="0">
              <a:buNone/>
            </a:pPr>
            <a:r>
              <a:rPr/>
              <a:t>CC BY 4.0 for the corpus. Citable per-version DOIs on each release.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Concrete numbers (today)</a:t>
            </a:r>
          </a:p>
        </p:txBody>
      </p:sp>
      <p:sp>
        <p:nvSpPr>
          <p:cNvPr id="3" name="Content Placeholder 2"/>
          <p:cNvSpPr>
            <a:spLocks noGrp="1"/>
          </p:cNvSpPr>
          <p:nvPr>
            <p:ph idx="1"/>
          </p:nvPr>
        </p:nvSpPr>
        <p:spPr/>
        <p:txBody>
          <a:bodyPr/>
          <a:lstStyle/>
          <a:p>
            <a:pPr lvl="0" indent="0" marL="0">
              <a:buNone/>
            </a:pPr>
            <a:r>
              <a:rPr b="1"/>
              <a:t>10.91 M tokens</a:t>
            </a:r>
            <a:r>
              <a:rPr/>
              <a:t> PROIEL-annotated </a:t>
            </a:r>
            <a:r>
              <a:rPr b="1"/>
              <a:t>173</a:t>
            </a:r>
            <a:r>
              <a:rPr/>
              <a:t> annotation batches complete </a:t>
            </a:r>
            <a:r>
              <a:rPr b="1"/>
              <a:t>8</a:t>
            </a:r>
            <a:r>
              <a:rPr/>
              <a:t> Greek periods covered </a:t>
            </a:r>
            <a:r>
              <a:rPr b="1"/>
              <a:t>3</a:t>
            </a:r>
            <a:r>
              <a:rPr/>
              <a:t> Indo-European parallels currently aligned at the New Testament</a:t>
            </a:r>
          </a:p>
          <a:p>
            <a:pPr lvl="0" indent="0" marL="0">
              <a:buNone/>
            </a:pPr>
            <a:r>
              <a:rPr/>
              <a:t>Dashboard snapshot: 19 June 2026 21:17 Athens. Latin, Gothic, Old Church Slavonic aligned in v0.4; Classical Armenian in ingestion for v0.5. v0.5 target 16 M tokens; v0.6 target 24 M.</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Three threads through the corpus</a:t>
            </a:r>
          </a:p>
        </p:txBody>
      </p:sp>
      <p:sp>
        <p:nvSpPr>
          <p:cNvPr id="3" name="Content Placeholder 2"/>
          <p:cNvSpPr>
            <a:spLocks noGrp="1"/>
          </p:cNvSpPr>
          <p:nvPr>
            <p:ph idx="1"/>
          </p:nvPr>
        </p:nvSpPr>
        <p:spPr/>
        <p:txBody>
          <a:bodyPr/>
          <a:lstStyle/>
          <a:p>
            <a:pPr lvl="0" indent="0" marL="0">
              <a:buNone/>
            </a:pPr>
            <a:r>
              <a:rPr b="1"/>
              <a:t>Thread A.</a:t>
            </a:r>
            <a:r>
              <a:rPr/>
              <a:t> The Homeric chain. Iliad 1.1 in Archaic Greek → its Byzantine epitome (Tzetzes) → its 1955 modern Greek prose retelling (Kakridis-Kazantzakis).</a:t>
            </a:r>
          </a:p>
          <a:p>
            <a:pPr lvl="0" indent="0" marL="0">
              <a:buNone/>
            </a:pPr>
            <a:r>
              <a:rPr b="1"/>
              <a:t>Thread B.</a:t>
            </a:r>
            <a:r>
              <a:rPr/>
              <a:t> The New-Testament chain. John 1.1 in Koine → its Vulgate translation → its Gothic and Old Church Slavonic sisters.</a:t>
            </a:r>
          </a:p>
          <a:p>
            <a:pPr lvl="0" indent="0" marL="0">
              <a:buNone/>
            </a:pPr>
            <a:r>
              <a:rPr b="1"/>
              <a:t>Thread C.</a:t>
            </a:r>
            <a:r>
              <a:rPr/>
              <a:t> The Septuagint chain. Psalm 1.1 in Hebrew (target) ← LXX Greek → Vulgate → Modern Greek liturgy.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12a. A closer look at the Septuagint</a:t>
            </a:r>
          </a:p>
        </p:txBody>
      </p:sp>
      <p:sp>
        <p:nvSpPr>
          <p:cNvPr id="3" name="Content Placeholder 2"/>
          <p:cNvSpPr>
            <a:spLocks noGrp="1"/>
          </p:cNvSpPr>
          <p:nvPr>
            <p:ph idx="1"/>
          </p:nvPr>
        </p:nvSpPr>
        <p:spPr/>
        <p:txBody>
          <a:bodyPr/>
          <a:lstStyle/>
          <a:p>
            <a:pPr lvl="0" indent="0" marL="0">
              <a:buNone/>
            </a:pPr>
            <a:r>
              <a:rPr/>
              <a:t>The </a:t>
            </a:r>
            <a:r>
              <a:rPr b="1"/>
              <a:t>Septuagint</a:t>
            </a:r>
            <a:r>
              <a:rPr/>
              <a:t> (LXX) is the most consequential single text in the Greek chain:</a:t>
            </a:r>
          </a:p>
          <a:p>
            <a:pPr lvl="0"/>
            <a:r>
              <a:rPr/>
              <a:t>a </a:t>
            </a:r>
            <a:r>
              <a:rPr b="1"/>
              <a:t>Koine-Greek translation of the Hebrew Bible</a:t>
            </a:r>
            <a:r>
              <a:rPr/>
              <a:t>, made in stages from the 3rd c. BCE (Pentateuch) onward;</a:t>
            </a:r>
          </a:p>
          <a:p>
            <a:pPr lvl="0"/>
            <a:r>
              <a:rPr/>
              <a:t>the </a:t>
            </a:r>
            <a:r>
              <a:rPr b="1"/>
              <a:t>Greek Bible of the early Church</a:t>
            </a:r>
            <a:r>
              <a:rPr/>
              <a:t>: New Testament writers quote it, not the Hebrew;</a:t>
            </a:r>
          </a:p>
          <a:p>
            <a:pPr lvl="0"/>
            <a:r>
              <a:rPr/>
              <a:t>the </a:t>
            </a:r>
            <a:r>
              <a:rPr b="1"/>
              <a:t>source of the first Christian translations</a:t>
            </a:r>
            <a:r>
              <a:rPr/>
              <a:t> into Latin (Old Latin, then Vulgate for many books), Gothic (Wulfila), Old Church Slavonic (Cyril and Methodius), and Classical Armenian;</a:t>
            </a:r>
          </a:p>
          <a:p>
            <a:pPr lvl="0"/>
            <a:r>
              <a:rPr/>
              <a:t>still in use in the </a:t>
            </a:r>
            <a:r>
              <a:rPr b="1"/>
              <a:t>Modern Greek liturgy</a:t>
            </a:r>
            <a:r>
              <a:rPr/>
              <a:t> today.</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12b. What LXX shows on a PROIEL spine</a:t>
            </a:r>
          </a:p>
        </p:txBody>
      </p:sp>
      <p:sp>
        <p:nvSpPr>
          <p:cNvPr id="3" name="Content Placeholder 2"/>
          <p:cNvSpPr>
            <a:spLocks noGrp="1"/>
          </p:cNvSpPr>
          <p:nvPr>
            <p:ph idx="1"/>
          </p:nvPr>
        </p:nvSpPr>
        <p:spPr/>
        <p:txBody>
          <a:bodyPr/>
          <a:lstStyle/>
          <a:p>
            <a:pPr lvl="0" indent="0" marL="0">
              <a:buNone/>
            </a:pPr>
            <a:r>
              <a:rPr/>
              <a:t>Two well-studied phenomena that AthDGC makes </a:t>
            </a:r>
            <a:r>
              <a:rPr b="1"/>
              <a:t>queryable across periods</a:t>
            </a:r>
            <a:r>
              <a:rPr/>
              <a:t>:</a:t>
            </a:r>
          </a:p>
          <a:p>
            <a:pPr lvl="0" indent="-342900" marL="342900">
              <a:buAutoNum type="arabicPeriod"/>
            </a:pPr>
            <a:r>
              <a:rPr b="1"/>
              <a:t>Paratactic καί</a:t>
            </a:r>
            <a:r>
              <a:rPr/>
              <a:t> as a calque of the Hebrew </a:t>
            </a:r>
            <a:r>
              <a:rPr i="1"/>
              <a:t>waw</a:t>
            </a:r>
            <a:r>
              <a:rPr/>
              <a:t>-consecutive: clause-initial καί + finite verb, instead of classical Greek subordinate-clause patterns;</a:t>
            </a:r>
          </a:p>
          <a:p>
            <a:pPr lvl="0" indent="-342900" marL="342900">
              <a:buAutoNum type="arabicPeriod"/>
            </a:pPr>
            <a:r>
              <a:rPr b="1"/>
              <a:t>Closest-conjunct agreement</a:t>
            </a:r>
            <a:r>
              <a:rPr/>
              <a:t>: number and gender agreement track the nearest conjunct under Hebrew influence (Lavidas 2019, </a:t>
            </a:r>
            <a:r>
              <a:rPr i="1"/>
              <a:t>Questions and Answers in Linguistics</a:t>
            </a:r>
            <a:r>
              <a:rPr/>
              <a:t> 5(2): 37-90).</a:t>
            </a:r>
          </a:p>
          <a:p>
            <a:pPr lvl="0" indent="0" marL="0">
              <a:buNone/>
            </a:pPr>
            <a:r>
              <a:rPr/>
              <a:t>Both are syntactic transfers from Hebrew. Both propagate outward, through Vulgate, Gothic, Old Church Slavonic.</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12c. The Septuagint, a concrete example</a:t>
            </a:r>
          </a:p>
        </p:txBody>
      </p:sp>
      <p:sp>
        <p:nvSpPr>
          <p:cNvPr id="3" name="Content Placeholder 2"/>
          <p:cNvSpPr>
            <a:spLocks noGrp="1"/>
          </p:cNvSpPr>
          <p:nvPr>
            <p:ph idx="1"/>
          </p:nvPr>
        </p:nvSpPr>
        <p:spPr/>
        <p:txBody>
          <a:bodyPr/>
          <a:lstStyle/>
          <a:p>
            <a:pPr lvl="0" indent="0" marL="0">
              <a:buNone/>
            </a:pPr>
            <a:r>
              <a:rPr b="1"/>
              <a:t>Genesis 1:3-4</a:t>
            </a:r>
            <a:r>
              <a:rPr/>
              <a:t> (the </a:t>
            </a:r>
            <a:r>
              <a:rPr i="1"/>
              <a:t>fiat lux</a:t>
            </a:r>
            <a:r>
              <a:rPr/>
              <a:t> sequence)</a:t>
            </a:r>
          </a:p>
          <a:p>
            <a:pPr lvl="0" indent="0" marL="0">
              <a:buNone/>
            </a:pPr>
            <a:r>
              <a:rPr b="1"/>
              <a:t>Heb.</a:t>
            </a:r>
            <a:r>
              <a:rPr/>
              <a:t> וַיֹּ֥אמֶר אֱלֹהִ֖ים יְהִ֣י א֑וֹר וַֽיְהִי־א֖וֹר׃ וַיַּ֧רְא אֱלֹהִ֛ים אֶת־הָא֖וֹר כִּי־טֽוֹב</a:t>
            </a:r>
          </a:p>
          <a:p>
            <a:pPr lvl="0" indent="0" marL="0">
              <a:buNone/>
            </a:pPr>
            <a:r>
              <a:rPr b="1"/>
              <a:t>Tr.</a:t>
            </a:r>
            <a:r>
              <a:rPr/>
              <a:t> wa-yyōʾmer ʾĕlōhîm yəhî ʾôr wa-yhî ʾôr. wa-yyarʾ ʾĕlōhîm ʾeṯ ha-ʾôr kî ṭôḇ.</a:t>
            </a:r>
          </a:p>
          <a:p>
            <a:pPr lvl="0" indent="0" marL="0">
              <a:buNone/>
            </a:pPr>
            <a:r>
              <a:rPr b="1"/>
              <a:t>LXX</a:t>
            </a:r>
            <a:r>
              <a:rPr/>
              <a:t> καὶ εἶπεν ὁ θεός Γενηθήτω φῶς. καὶ ἐγένετο φῶς. καὶ εἶδεν ὁ θεὸς τὸ φῶς ὅτι καλόν.</a:t>
            </a:r>
          </a:p>
          <a:p>
            <a:pPr lvl="0" indent="0" marL="0">
              <a:buNone/>
            </a:pPr>
            <a:r>
              <a:rPr b="1"/>
              <a:t>Gloss</a:t>
            </a:r>
            <a:r>
              <a:rPr/>
              <a:t> and said the god let-become light. and became light. and saw the god the light that good.</a:t>
            </a:r>
          </a:p>
          <a:p>
            <a:pPr lvl="0" indent="0" marL="0">
              <a:buNone/>
            </a:pPr>
            <a:r>
              <a:rPr/>
              <a:t>Three Hebrew </a:t>
            </a:r>
            <a:r>
              <a:rPr i="1"/>
              <a:t>wayyiqtol</a:t>
            </a:r>
            <a:r>
              <a:rPr/>
              <a:t> forms (consecutive narrative tense) are calqued by three clause-initial καί + finite verb in the LXX. Classical Greek prose would subordinate (participle, μέν / δέ, ὅτε clause).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12d. Three thousand years, one schema</a:t>
            </a:r>
          </a:p>
        </p:txBody>
      </p:sp>
      <p:sp>
        <p:nvSpPr>
          <p:cNvPr id="3" name="Content Placeholder 2"/>
          <p:cNvSpPr>
            <a:spLocks noGrp="1"/>
          </p:cNvSpPr>
          <p:nvPr>
            <p:ph idx="1"/>
          </p:nvPr>
        </p:nvSpPr>
        <p:spPr/>
        <p:txBody>
          <a:bodyPr/>
          <a:lstStyle/>
          <a:p>
            <a:pPr lvl="0" indent="0" marL="0">
              <a:buNone/>
            </a:pPr>
            <a:r>
              <a:rPr/>
              <a:t>The eight periods of Greek on the AthDGC PROIEL spine: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13. What this offers the intertextuality programme</a:t>
            </a:r>
          </a:p>
        </p:txBody>
      </p:sp>
      <p:sp>
        <p:nvSpPr>
          <p:cNvPr id="3" name="Content Placeholder 2"/>
          <p:cNvSpPr>
            <a:spLocks noGrp="1"/>
          </p:cNvSpPr>
          <p:nvPr>
            <p:ph idx="1"/>
          </p:nvPr>
        </p:nvSpPr>
        <p:spPr/>
        <p:txBody>
          <a:bodyPr/>
          <a:lstStyle/>
          <a:p>
            <a:pPr lvl="0" indent="-342900" marL="342900">
              <a:buAutoNum type="arabicPeriod"/>
            </a:pPr>
            <a:r>
              <a:rPr/>
              <a:t>A test bed: 3000 years on one schema, queryable across periods.</a:t>
            </a:r>
          </a:p>
          <a:p>
            <a:pPr lvl="0" indent="-342900" marL="342900">
              <a:buAutoNum type="arabicPeriod"/>
            </a:pPr>
            <a:r>
              <a:rPr/>
              <a:t>Structural detection on top of surface detection: not “the same words were re-used”, but </a:t>
            </a:r>
            <a:r>
              <a:rPr b="1"/>
              <a:t>“the same propositional content was re-encoded into a different syntax”</a:t>
            </a:r>
            <a:r>
              <a:rPr/>
              <a:t>.</a:t>
            </a:r>
          </a:p>
          <a:p>
            <a:pPr lvl="0" indent="-342900" marL="342900">
              <a:buAutoNum type="arabicPeriod"/>
            </a:pPr>
            <a:r>
              <a:rPr/>
              <a:t>An empirical handle on the parallel-coexistent-grammars hypothesis: every retelling and retranslation is a controlled minimal pair.</a:t>
            </a:r>
          </a:p>
          <a:p>
            <a:pPr lvl="0" indent="-342900" marL="342900">
              <a:buAutoNum type="arabicPeriod"/>
            </a:pPr>
            <a:r>
              <a:rPr/>
              <a:t>Reusable infrastructure: the same pipeline can run on Hebrew, Sanskrit, Tibetan, with the relation inventory adjusted upstream.</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14. Resources</a:t>
            </a:r>
          </a:p>
        </p:txBody>
      </p:sp>
      <p:sp>
        <p:nvSpPr>
          <p:cNvPr id="3" name="Content Placeholder 2"/>
          <p:cNvSpPr>
            <a:spLocks noGrp="1"/>
          </p:cNvSpPr>
          <p:nvPr>
            <p:ph idx="1"/>
          </p:nvPr>
        </p:nvSpPr>
        <p:spPr/>
        <p:txBody>
          <a:bodyPr/>
          <a:lstStyle/>
          <a:p>
            <a:pPr lvl="0"/>
            <a:r>
              <a:rPr/>
              <a:t>Public site: </a:t>
            </a:r>
            <a:r>
              <a:rPr>
                <a:hlinkClick r:id="rId3"/>
              </a:rPr>
              <a:t>https://athdgc.github.io</a:t>
            </a:r>
          </a:p>
          <a:p>
            <a:pPr lvl="0"/>
            <a:r>
              <a:rPr/>
              <a:t>Corpus repository: </a:t>
            </a:r>
            <a:r>
              <a:rPr>
                <a:hlinkClick r:id="rId4"/>
              </a:rPr>
              <a:t>https://github.com/AthDGC/athdgc-corpus</a:t>
            </a:r>
            <a:r>
              <a:rPr/>
              <a:t> (under v0.5 audit)</a:t>
            </a:r>
          </a:p>
          <a:p>
            <a:pPr lvl="0"/>
            <a:r>
              <a:rPr/>
              <a:t>Tools organisation: </a:t>
            </a:r>
            <a:r>
              <a:rPr>
                <a:hlinkClick r:id="rId5"/>
              </a:rPr>
              <a:t>https://github.com/AthDGC</a:t>
            </a:r>
          </a:p>
          <a:p>
            <a:pPr lvl="0"/>
            <a:r>
              <a:rPr/>
              <a:t>Live PROIEL viewer: </a:t>
            </a:r>
            <a:r>
              <a:rPr>
                <a:hlinkClick r:id="rId6"/>
              </a:rPr>
              <a:t>https://dialing.enl.uoa.gr/proiel/</a:t>
            </a:r>
          </a:p>
          <a:p>
            <a:pPr lvl="0"/>
            <a:r>
              <a:rPr/>
              <a:t>arXiv preprint: cs.CL (June 2026)</a:t>
            </a:r>
          </a:p>
          <a:p>
            <a:pPr lvl="0"/>
            <a:r>
              <a:rPr/>
              <a:t>Zenodo concept DOI: 10.5281/zenodo.20439182</a:t>
            </a:r>
          </a:p>
          <a:p>
            <a:pPr lvl="0" indent="0" marL="0">
              <a:buNone/>
            </a:pPr>
            <a:r>
              <a:rPr b="1"/>
              <a:t>Contact:</a:t>
            </a:r>
            <a:r>
              <a:rPr/>
              <a:t> nikolaos.lavidas@gmail.com · nlavidas@enl.uoa.gr</a:t>
            </a:r>
          </a:p>
          <a:p>
            <a:pPr lvl="0" indent="0" marL="0">
              <a:buNone/>
            </a:pPr>
            <a:r>
              <a:rPr i="1"/>
              <a:t>Διαχρονία Γλώσσας :Χρόνος</a:t>
            </a:r>
            <a:r>
              <a:rPr/>
              <a:t> · Athens Digital Glossa Chronos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Funding</a:t>
            </a:r>
          </a:p>
        </p:txBody>
      </p:sp>
      <p:sp>
        <p:nvSpPr>
          <p:cNvPr id="3" name="Content Placeholder 2"/>
          <p:cNvSpPr>
            <a:spLocks noGrp="1"/>
          </p:cNvSpPr>
          <p:nvPr>
            <p:ph idx="1"/>
          </p:nvPr>
        </p:nvSpPr>
        <p:spPr/>
        <p:txBody>
          <a:bodyPr/>
          <a:lstStyle/>
          <a:p>
            <a:pPr lvl="0" indent="0" marL="0">
              <a:buNone/>
            </a:pPr>
            <a:r>
              <a:rPr/>
              <a:t>Funded by the </a:t>
            </a:r>
            <a:r>
              <a:rPr b="1"/>
              <a:t>Hellenic Foundation for Research and Innovation (HFRI)</a:t>
            </a:r>
            <a:r>
              <a:rPr/>
              <a:t> under the 3rd Call for HFRI Research Projects to support Post-Doctoral Researchers, </a:t>
            </a:r>
            <a:r>
              <a:rPr b="1"/>
              <a:t>Project No. 20577</a:t>
            </a:r>
            <a:r>
              <a:rPr/>
              <a:t>; with complementary support from the </a:t>
            </a:r>
            <a:r>
              <a:rPr b="1"/>
              <a:t>Greece 2.0 National Recovery and Resilience Plan</a:t>
            </a:r>
            <a:r>
              <a:rPr/>
              <a:t>.</a:t>
            </a:r>
          </a:p>
          <a:p>
            <a:pPr lvl="0" indent="0" marL="0">
              <a:buNone/>
            </a:pPr>
            <a:r>
              <a:rPr/>
              <a:t>Compute supplied by </a:t>
            </a:r>
            <a:r>
              <a:rPr b="1"/>
              <a:t>GRNET ARIS</a:t>
            </a:r>
            <a:r>
              <a:rPr/>
              <a:t> (the Greek national high-performance computing cluster), allocation </a:t>
            </a:r>
            <a:r>
              <a:rPr>
                <a:latin typeface="Courier"/>
              </a:rPr>
              <a:t>pa260305</a:t>
            </a:r>
            <a:r>
              <a:rPr/>
              <a:t>.</a:t>
            </a:r>
          </a:p>
          <a:p>
            <a:pPr lvl="0" indent="0" marL="0">
              <a:buNone/>
            </a:pPr>
            <a:r>
              <a:rPr/>
              <a:t>Corpus licence </a:t>
            </a:r>
            <a:r>
              <a:rPr b="1"/>
              <a:t>CC BY 4.0</a:t>
            </a:r>
            <a:r>
              <a:rPr/>
              <a:t>. Tooling licences </a:t>
            </a:r>
            <a:r>
              <a:rPr b="1"/>
              <a:t>MIT / Apache 2.0 / BSD</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Intertextuality in diachronic Greek</dc:title>
  <dc:creator>Nikolaos Lavidas</dc:creator>
  <cp:keywords/>
  <dcterms:created xsi:type="dcterms:W3CDTF">2026-06-19T20:08:55Z</dcterms:created>
  <dcterms:modified xsi:type="dcterms:W3CDTF">2026-06-19T20:08:55Z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
  </property>
  <property fmtid="{D5CDD505-2E9C-101B-9397-08002B2CF9AE}" pid="6" name="by-affiliation">
    <vt:lpwstr/>
  </property>
  <property fmtid="{D5CDD505-2E9C-101B-9397-08002B2CF9AE}" pid="7" name="by-author">
    <vt:lpwstr/>
  </property>
  <property fmtid="{D5CDD505-2E9C-101B-9397-08002B2CF9AE}" pid="8" name="date">
    <vt:lpwstr>June 22, 2026</vt:lpwstr>
  </property>
  <property fmtid="{D5CDD505-2E9C-101B-9397-08002B2CF9AE}" pid="9" name="date-format">
    <vt:lpwstr>long</vt:lpwstr>
  </property>
  <property fmtid="{D5CDD505-2E9C-101B-9397-08002B2CF9AE}" pid="10" name="engines">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subtitle">
    <vt:lpwstr>What AthDGC contributes; Symposium on Computational Methods for Intertextuality, Tel Aviv University, 22 June 2026</vt:lpwstr>
  </property>
  <property fmtid="{D5CDD505-2E9C-101B-9397-08002B2CF9AE}" pid="16" name="toc-title">
    <vt:lpwstr>Table of contents</vt:lpwstr>
  </property>
</Properties>
</file>