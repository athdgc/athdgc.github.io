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thDGC/Diachronic-Linguistics-Platform" TargetMode="External" /><Relationship Id="rId3" Type="http://schemas.openxmlformats.org/officeDocument/2006/relationships/hyperlink" Target="https://doi.org/10.5281/zenodo.20439182" TargetMode="External" /><Relationship Id="rId4" Type="http://schemas.openxmlformats.org/officeDocument/2006/relationships/hyperlink" Target="https://athdgc.github.io" TargetMode="External" /><Relationship Id="rId5" Type="http://schemas.openxmlformats.org/officeDocument/2006/relationships/hyperlink" Target="https://huggingface.co/AthDGC" TargetMode="External" /><Relationship Id="rId6" Type="http://schemas.openxmlformats.org/officeDocument/2006/relationships/hyperlink" Target="https://athdgc.github.io/data_paper.html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github.com/AthDGC" TargetMode="External" /><Relationship Id="rId4" Type="http://schemas.openxmlformats.org/officeDocument/2006/relationships/hyperlink" Target="https://doi.org/10.5281/zenodo.20439182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at CIDL 2026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Civis Diachronic Linguistics · Athens · CIVIS BIP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15,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- Athens-PROIEL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Greek treebank · Indo-European cross-lingual alignment Athens Digital Glossa Chronos Research Network</a:t>
            </a:r>
          </a:p>
          <a:p>
            <a:pPr lvl="0" indent="0" marL="0">
              <a:buNone/>
            </a:pPr>
            <a:r>
              <a:rPr/>
              <a:t>HFRI Project No. 20577 · Greece 2.0 NRRP · CVL-CDSAML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 at CIDL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linguistics needs:</a:t>
            </a:r>
          </a:p>
          <a:p>
            <a:pPr lvl="0"/>
            <a:r>
              <a:rPr/>
              <a:t>continuous coverage across periods</a:t>
            </a:r>
          </a:p>
          <a:p>
            <a:pPr lvl="0"/>
            <a:r>
              <a:rPr/>
              <a:t>aligned witnesses across languages</a:t>
            </a:r>
          </a:p>
          <a:p>
            <a:pPr lvl="0"/>
            <a:r>
              <a:rPr/>
              <a:t>uniform syntactic annotation</a:t>
            </a:r>
          </a:p>
          <a:p>
            <a:pPr lvl="0"/>
            <a:r>
              <a:rPr/>
              <a:t>machine-queryable argument structure</a:t>
            </a:r>
          </a:p>
          <a:p>
            <a:pPr lvl="0" indent="0" marL="0">
              <a:buNone/>
            </a:pPr>
            <a:r>
              <a:rPr/>
              <a:t>No single existing resource provides all four. AthDGC does.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Coverage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Archaic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8th–6th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Homer, Hesiod, Pindar, Sappho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5th–4th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Tragedy + comedy + history + philosophy + oratory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3rd c. BC – 4th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New Testament, Plutarch, Strabo, Lucian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Antique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4th–7th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Eusebius, Basil, Chrysostom, Procopius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7th–12th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Psellos, Anna Komnene, John of Damascus, Niketas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13th–15th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Early 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16th–18th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19th c. – present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Cross-lingual 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NT verse-level cross-alignment to:</a:t>
            </a:r>
          </a:p>
          <a:p>
            <a:pPr lvl="0"/>
            <a:r>
              <a:rPr b="1"/>
              <a:t>Latin</a:t>
            </a:r>
            <a:r>
              <a:rPr/>
              <a:t> (Vulgate) - 6,861 verses aligned</a:t>
            </a:r>
          </a:p>
          <a:p>
            <a:pPr lvl="0"/>
            <a:r>
              <a:rPr b="1"/>
              <a:t>Gothic</a:t>
            </a:r>
            <a:r>
              <a:rPr/>
              <a:t> (Wulfila) - </a:t>
            </a:r>
            <a:r>
              <a:rPr i="1"/>
              <a:t>in ingestion</a:t>
            </a:r>
          </a:p>
          <a:p>
            <a:pPr lvl="0"/>
            <a:r>
              <a:rPr b="1"/>
              <a:t>Old Church Slavonic</a:t>
            </a:r>
            <a:r>
              <a:rPr/>
              <a:t> (Marianus) - </a:t>
            </a:r>
            <a:r>
              <a:rPr i="1"/>
              <a:t>in ingestion</a:t>
            </a:r>
          </a:p>
          <a:p>
            <a:pPr lvl="0"/>
            <a:r>
              <a:rPr b="1"/>
              <a:t>Classical Armenian</a:t>
            </a:r>
            <a:r>
              <a:rPr/>
              <a:t> - PROIEL-style pipeline in development</a:t>
            </a:r>
          </a:p>
          <a:p>
            <a:pPr lvl="0" indent="0" marL="0">
              <a:buNone/>
            </a:pPr>
            <a:r>
              <a:rPr/>
              <a:t>Method: LaBSE sentence embedding + AwesomeAlign word-level (mBERT attention).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Argument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VERB / AUX token AthDGC extracts:</a:t>
            </a:r>
          </a:p>
          <a:p>
            <a:pPr lvl="0"/>
            <a:r>
              <a:rPr/>
              <a:t>subject (</a:t>
            </a:r>
            <a:r>
              <a:rPr>
                <a:latin typeface="Courier"/>
              </a:rPr>
              <a:t>sub</a:t>
            </a:r>
            <a:r>
              <a:rPr/>
              <a:t>, including raised </a:t>
            </a:r>
            <a:r>
              <a:rPr>
                <a:latin typeface="Courier"/>
              </a:rPr>
              <a:t>xobj</a:t>
            </a:r>
            <a:r>
              <a:rPr/>
              <a:t> / </a:t>
            </a:r>
            <a:r>
              <a:rPr>
                <a:latin typeface="Courier"/>
              </a:rPr>
              <a:t>nonsub</a:t>
            </a:r>
            <a:r>
              <a:rPr/>
              <a:t> patterns)</a:t>
            </a:r>
          </a:p>
          <a:p>
            <a:pPr lvl="0"/>
            <a:r>
              <a:rPr/>
              <a:t>direct object (</a:t>
            </a:r>
            <a:r>
              <a:rPr>
                <a:latin typeface="Courier"/>
              </a:rPr>
              <a:t>obj</a:t>
            </a:r>
            <a:r>
              <a:rPr/>
              <a:t>)</a:t>
            </a:r>
          </a:p>
          <a:p>
            <a:pPr lvl="0"/>
            <a:r>
              <a:rPr/>
              <a:t>indirect / oblique args (</a:t>
            </a:r>
            <a:r>
              <a:rPr>
                <a:latin typeface="Courier"/>
              </a:rPr>
              <a:t>iobj</a:t>
            </a:r>
            <a:r>
              <a:rPr/>
              <a:t>, </a:t>
            </a:r>
            <a:r>
              <a:rPr>
                <a:latin typeface="Courier"/>
              </a:rPr>
              <a:t>obl</a:t>
            </a:r>
            <a:r>
              <a:rPr/>
              <a:t>)</a:t>
            </a:r>
          </a:p>
          <a:p>
            <a:pPr lvl="0"/>
            <a:r>
              <a:rPr/>
              <a:t>vocative addressee (</a:t>
            </a:r>
            <a:r>
              <a:rPr>
                <a:latin typeface="Courier"/>
              </a:rPr>
              <a:t>voc</a:t>
            </a:r>
            <a:r>
              <a:rPr/>
              <a:t>)</a:t>
            </a:r>
          </a:p>
          <a:p>
            <a:pPr lvl="0"/>
            <a:r>
              <a:rPr/>
              <a:t>voice (active / middle / passive)</a:t>
            </a:r>
          </a:p>
          <a:p>
            <a:pPr lvl="0"/>
            <a:r>
              <a:rPr/>
              <a:t>aspect (perfective / imperfective)</a:t>
            </a:r>
          </a:p>
          <a:p>
            <a:pPr lvl="0"/>
            <a:r>
              <a:rPr/>
              <a:t>tense, mood, verb-form</a:t>
            </a:r>
          </a:p>
          <a:p>
            <a:pPr lvl="0" indent="0" marL="0">
              <a:buNone/>
            </a:pPr>
            <a:r>
              <a:rPr/>
              <a:t>Stored per row in a column accessible to graph queries over the cross-lingual alignment edges.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query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“Show every Greek aorist transitive verb with an accusative object whose Latin Vulgate counterpart is a passive periphrastic”</a:t>
            </a:r>
          </a:p>
          <a:p>
            <a:pPr lvl="0" indent="0" marL="0">
              <a:buNone/>
            </a:pPr>
            <a:r>
              <a:rPr/>
              <a:t>Translates to a Neo4j Cypher query traversing the </a:t>
            </a:r>
            <a:r>
              <a:rPr>
                <a:latin typeface="Courier"/>
              </a:rPr>
              <a:t>(Token)-[TRANSLATED_AS]-&gt;(Token)</a:t>
            </a:r>
            <a:r>
              <a:rPr/>
              <a:t> edges where source carries </a:t>
            </a:r>
            <a:r>
              <a:rPr>
                <a:latin typeface="Courier"/>
              </a:rPr>
              <a:t>voice=Act,aspect=Perf,obj=Acc</a:t>
            </a:r>
            <a:r>
              <a:rPr/>
              <a:t> and target carries </a:t>
            </a:r>
            <a:r>
              <a:rPr>
                <a:latin typeface="Courier"/>
              </a:rPr>
              <a:t>voice=Pass,verb_form=Periphrastic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infrastructure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Source code:</a:t>
            </a:r>
            <a:r>
              <a:rPr/>
              <a:t> </a:t>
            </a:r>
            <a:r>
              <a:rPr>
                <a:hlinkClick r:id="rId2"/>
              </a:rPr>
              <a:t>https://github.com/AthDGC/Diachronic-Linguistics-Platform</a:t>
            </a:r>
            <a:r>
              <a:rPr/>
              <a:t> (Apache-2.0)</a:t>
            </a:r>
          </a:p>
          <a:p>
            <a:pPr lvl="0"/>
            <a:r>
              <a:rPr b="1"/>
              <a:t>Dataset DOI:</a:t>
            </a:r>
            <a:r>
              <a:rPr/>
              <a:t> </a:t>
            </a:r>
            <a:r>
              <a:rPr>
                <a:hlinkClick r:id="rId3"/>
              </a:rPr>
              <a:t>10.5281/zenodo.20439182</a:t>
            </a:r>
            <a:r>
              <a:rPr/>
              <a:t> (CC-BY-4.0)</a:t>
            </a:r>
          </a:p>
          <a:p>
            <a:pPr lvl="0"/>
            <a:r>
              <a:rPr b="1"/>
              <a:t>Showcase:</a:t>
            </a:r>
            <a:r>
              <a:rPr/>
              <a:t> </a:t>
            </a:r>
            <a:r>
              <a:rPr>
                <a:hlinkClick r:id="rId4"/>
              </a:rPr>
              <a:t>athdgc.github.io</a:t>
            </a:r>
          </a:p>
          <a:p>
            <a:pPr lvl="0"/>
            <a:r>
              <a:rPr b="1"/>
              <a:t>Hugging Face checkpoints:</a:t>
            </a:r>
            <a:r>
              <a:rPr/>
              <a:t> mirror at </a:t>
            </a:r>
            <a:r>
              <a:rPr>
                <a:hlinkClick r:id="rId5"/>
              </a:rPr>
              <a:t>https://huggingface.co/AthDGC</a:t>
            </a:r>
            <a:r>
              <a:rPr/>
              <a:t> in setup; ships at v0.5</a:t>
            </a:r>
          </a:p>
          <a:p>
            <a:pPr lvl="0"/>
            <a:r>
              <a:rPr b="1"/>
              <a:t>Launch report:</a:t>
            </a:r>
            <a:r>
              <a:rPr/>
              <a:t> </a:t>
            </a:r>
            <a:r>
              <a:rPr>
                <a:hlinkClick r:id="rId6"/>
              </a:rPr>
              <a:t>GlossaContactLab Working Papers, NKUA digital edition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PI:</a:t>
            </a:r>
            <a:r>
              <a:rPr/>
              <a:t> Prof. Nikolaos Lavidas (NKUA) </a:t>
            </a:r>
            <a:r>
              <a:rPr b="1"/>
              <a:t>International:</a:t>
            </a:r>
            <a:r>
              <a:rPr/>
              <a:t> Prof. Dag Haug (Oslo, PROIEL Project Director); Prof. Leonid Kulikov (Ghent; Diachronic typology, valency questionnaires) </a:t>
            </a:r>
            <a:r>
              <a:rPr b="1"/>
              <a:t>NKUA:</a:t>
            </a:r>
            <a:r>
              <a:rPr/>
              <a:t> Prof. Emerita Kiki Nikiforidou; Dr. Vassiliki Geka, Dr. Vassileios Symeonidis, Dr. Theodoros Michalareas (Post-Doctoral Researchers); Sofia Chionidi, Anastasia Tsiropina, Eleni Plakoutsi (PhD Candidates); Evangelos Argyropoulos (Research Assistant); Athens Digital Glossa Chronos Research Network (collective author)</a:t>
            </a:r>
          </a:p>
          <a:p>
            <a:pPr lvl="0" indent="0" marL="0">
              <a:buNone/>
            </a:pPr>
            <a:r>
              <a:rPr/>
              <a:t>Funded by HFRI (Project No. 20577) · Greece 2.0 NRRP Compute: GRNET ARIS (pa260305)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CIDL participants can do with AthDGC today:</a:t>
            </a:r>
          </a:p>
          <a:p>
            <a:pPr lvl="0" indent="-342900" marL="342900">
              <a:buAutoNum type="arabicPeriod"/>
            </a:pPr>
            <a:r>
              <a:rPr/>
              <a:t>Query the corpus via the public Neo4j endpoint</a:t>
            </a:r>
          </a:p>
          <a:p>
            <a:pPr lvl="0" indent="-342900" marL="342900">
              <a:buAutoNum type="arabicPeriod"/>
            </a:pPr>
            <a:r>
              <a:rPr/>
              <a:t>Pull period-specific JSONL partitions from Hugging Face</a:t>
            </a:r>
          </a:p>
          <a:p>
            <a:pPr lvl="0" indent="-342900" marL="342900">
              <a:buAutoNum type="arabicPeriod"/>
            </a:pPr>
            <a:r>
              <a:rPr/>
              <a:t>Browse the PROIEL XML 2.0 samples on </a:t>
            </a:r>
            <a:r>
              <a:rPr>
                <a:latin typeface="Courier"/>
              </a:rPr>
              <a:t>athdgc.github.io</a:t>
            </a:r>
          </a:p>
          <a:p>
            <a:pPr lvl="0" indent="-342900" marL="342900">
              <a:buAutoNum type="arabicPeriod"/>
            </a:pPr>
            <a:r>
              <a:rPr/>
              <a:t>Flag annotation errors via the showcase review toolbar</a:t>
            </a:r>
          </a:p>
          <a:p>
            <a:pPr lvl="0" indent="-342900" marL="342900">
              <a:buAutoNum type="arabicPeriod"/>
            </a:pPr>
            <a:r>
              <a:rPr/>
              <a:t>Cite version-pinned datasets via the version DOIs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· </a:t>
            </a:r>
            <a:r>
              <a:rPr>
                <a:hlinkClick r:id="rId3"/>
              </a:rPr>
              <a:t>github.com/AthDGC</a:t>
            </a:r>
            <a:r>
              <a:rPr/>
              <a:t> </a:t>
            </a:r>
            <a:r>
              <a:rPr>
                <a:hlinkClick r:id="rId4"/>
              </a:rPr>
              <a:t>10.5281/zenodo.20439182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at CIDL 2026</dc:title>
  <dc:creator>Nikolaos Lavidas</dc:creator>
  <cp:keywords/>
  <dcterms:created xsi:type="dcterms:W3CDTF">2026-06-04T20:08:22Z</dcterms:created>
  <dcterms:modified xsi:type="dcterms:W3CDTF">2026-06-04T20:08:22Z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15,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Civis Diachronic Linguistics · Athens · CIVIS BIP</vt:lpwstr>
  </property>
  <property fmtid="{D5CDD505-2E9C-101B-9397-08002B2CF9AE}" pid="16" name="toc-title">
    <vt:lpwstr>Table of contents</vt:lpwstr>
  </property>
</Properties>
</file>