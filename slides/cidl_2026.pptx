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AthDGC/Diachronic-Linguistics-Platform" TargetMode="External" /><Relationship Id="rId3" Type="http://schemas.openxmlformats.org/officeDocument/2006/relationships/hyperlink" Target="https://doi.org/10.5281/zenodo.20439182" TargetMode="External" /><Relationship Id="rId4" Type="http://schemas.openxmlformats.org/officeDocument/2006/relationships/hyperlink" Target="https://athdgc.github.io" TargetMode="External" /><Relationship Id="rId5" Type="http://schemas.openxmlformats.org/officeDocument/2006/relationships/hyperlink" Target="https://huggingface.co/AthDGC" TargetMode="External" /><Relationship Id="rId6" Type="http://schemas.openxmlformats.org/officeDocument/2006/relationships/hyperlink" Target="https://athdgc.github.io/data_paper.html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thdgc.github.io" TargetMode="External" /><Relationship Id="rId3" Type="http://schemas.openxmlformats.org/officeDocument/2006/relationships/hyperlink" Target="https://github.com/AthDGC" TargetMode="External" /><Relationship Id="rId4" Type="http://schemas.openxmlformats.org/officeDocument/2006/relationships/hyperlink" Target="https://doi.org/10.5281/zenodo.20439182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AthDGC at CIDL 2026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Civis Diachronic Linguistics · Athens · CIVIS BIP</a:t>
            </a:r>
            <a:br/>
            <a:br/>
            <a:r>
              <a:rPr/>
              <a:t>Nikolaos Lavidas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June 15,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AthDGC, Athens-PROIEL (the dependency-treebank (a collection of sentences whose grammatical structure has been analysed and stored) standard for early Indo-European languages, developed at Oslo)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Diachronic Greek treebank · Indo-European cross-lingual alignment (matching corresponding words or sentences between texts in different languages) Athens Digital Glossa Chronos Research Network</a:t>
            </a:r>
          </a:p>
          <a:p>
            <a:pPr lvl="0" indent="0" marL="0">
              <a:buNone/>
            </a:pPr>
            <a:r>
              <a:rPr/>
              <a:t>HFRI Project No. 20577 · Greece 2.0 NRRP · CVL-CDSAML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 at CIDL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Diachronic linguistics needs:</a:t>
            </a:r>
          </a:p>
          <a:p>
            <a:pPr lvl="0"/>
            <a:r>
              <a:rPr/>
              <a:t>continuous coverage across periods</a:t>
            </a:r>
          </a:p>
          <a:p>
            <a:pPr lvl="0"/>
            <a:r>
              <a:rPr/>
              <a:t>aligned witnesses across languages</a:t>
            </a:r>
          </a:p>
          <a:p>
            <a:pPr lvl="0"/>
            <a:r>
              <a:rPr/>
              <a:t>uniform syntactic annotation</a:t>
            </a:r>
          </a:p>
          <a:p>
            <a:pPr lvl="0"/>
            <a:r>
              <a:rPr/>
              <a:t>machine-queryable argument structure (the set of obligatory and optional partners a verb requires, e.g. subject, object, oblique)</a:t>
            </a:r>
          </a:p>
          <a:p>
            <a:pPr lvl="0" indent="0" marL="0">
              <a:buNone/>
            </a:pPr>
            <a:r>
              <a:rPr/>
              <a:t>No single existing resource provides all four. AthDGC does.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Coverage (v0.4)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Annotated Greek rows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Archaic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8th–6th c. BC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Homer, Hesiod, Pindar, Sappho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5th–4th c. BC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Tragedy + comedy + history + philosophy + oratory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3rd c. BC – 4th c. 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Testament, Plutarch, Strabo, Lucian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 Antique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4th–7th c. 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Eusebius, Basil, Chrysostom, Procopius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Byzantine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7th–12th c. 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Psellos, Anna Komnene, John of Damascus, Niketas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 Byzantine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13th–15th c. 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in ingestion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Early Modern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16th–18th c. 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in ingestion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19th c. – present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in ingestion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Cross-lingual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NT verse-level cross-alignment to:</a:t>
            </a:r>
          </a:p>
          <a:p>
            <a:pPr lvl="0"/>
            <a:r>
              <a:rPr b="1"/>
              <a:t>Latin</a:t>
            </a:r>
            <a:r>
              <a:rPr/>
              <a:t> (Vulgate), Clementine Vulgate NT aligned</a:t>
            </a:r>
          </a:p>
          <a:p>
            <a:pPr lvl="0"/>
            <a:r>
              <a:rPr b="1"/>
              <a:t>Gothic</a:t>
            </a:r>
            <a:r>
              <a:rPr/>
              <a:t> (Wulfila), </a:t>
            </a:r>
            <a:r>
              <a:rPr i="1"/>
              <a:t>in ingestion</a:t>
            </a:r>
          </a:p>
          <a:p>
            <a:pPr lvl="0"/>
            <a:r>
              <a:rPr b="1"/>
              <a:t>Old Church Slavonic</a:t>
            </a:r>
            <a:r>
              <a:rPr/>
              <a:t> (Marianus), </a:t>
            </a:r>
            <a:r>
              <a:rPr i="1"/>
              <a:t>in ingestion</a:t>
            </a:r>
          </a:p>
          <a:p>
            <a:pPr lvl="0"/>
            <a:r>
              <a:rPr b="1"/>
              <a:t>Classical Armenian</a:t>
            </a:r>
            <a:r>
              <a:rPr/>
              <a:t>, PROIEL-style workflow in development</a:t>
            </a:r>
          </a:p>
          <a:p>
            <a:pPr lvl="0" indent="0" marL="0">
              <a:buNone/>
            </a:pPr>
            <a:r>
              <a:rPr/>
              <a:t>Method: LaBSE (a multilingual sentence-embedding model that maps sentences from many languages into a common vector space) sentence embedding (a numeric vector that represents the meaning of a sentence) + AwesomeAlign (a word-alignment procedure that uses multilingual-BERT attention to match words across translations) word-level (mBERT attention).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Argument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every VERB / AUX token AthDGC extracts:</a:t>
            </a:r>
          </a:p>
          <a:p>
            <a:pPr lvl="0"/>
            <a:r>
              <a:rPr/>
              <a:t>subject (</a:t>
            </a:r>
            <a:r>
              <a:rPr>
                <a:latin typeface="Courier"/>
              </a:rPr>
              <a:t>sub</a:t>
            </a:r>
            <a:r>
              <a:rPr/>
              <a:t>, including raised </a:t>
            </a:r>
            <a:r>
              <a:rPr>
                <a:latin typeface="Courier"/>
              </a:rPr>
              <a:t>xobj</a:t>
            </a:r>
            <a:r>
              <a:rPr/>
              <a:t> / </a:t>
            </a:r>
            <a:r>
              <a:rPr>
                <a:latin typeface="Courier"/>
              </a:rPr>
              <a:t>nonsub</a:t>
            </a:r>
            <a:r>
              <a:rPr/>
              <a:t> patterns)</a:t>
            </a:r>
          </a:p>
          <a:p>
            <a:pPr lvl="0"/>
            <a:r>
              <a:rPr/>
              <a:t>direct object (</a:t>
            </a:r>
            <a:r>
              <a:rPr>
                <a:latin typeface="Courier"/>
              </a:rPr>
              <a:t>obj</a:t>
            </a:r>
            <a:r>
              <a:rPr/>
              <a:t>)</a:t>
            </a:r>
          </a:p>
          <a:p>
            <a:pPr lvl="0"/>
            <a:r>
              <a:rPr/>
              <a:t>indirect / oblique args (</a:t>
            </a:r>
            <a:r>
              <a:rPr>
                <a:latin typeface="Courier"/>
              </a:rPr>
              <a:t>iobj</a:t>
            </a:r>
            <a:r>
              <a:rPr/>
              <a:t>, </a:t>
            </a:r>
            <a:r>
              <a:rPr>
                <a:latin typeface="Courier"/>
              </a:rPr>
              <a:t>obl</a:t>
            </a:r>
            <a:r>
              <a:rPr/>
              <a:t>)</a:t>
            </a:r>
          </a:p>
          <a:p>
            <a:pPr lvl="0"/>
            <a:r>
              <a:rPr/>
              <a:t>vocative addressee (</a:t>
            </a:r>
            <a:r>
              <a:rPr>
                <a:latin typeface="Courier"/>
              </a:rPr>
              <a:t>voc</a:t>
            </a:r>
            <a:r>
              <a:rPr/>
              <a:t>)</a:t>
            </a:r>
          </a:p>
          <a:p>
            <a:pPr lvl="0"/>
            <a:r>
              <a:rPr/>
              <a:t>voice (active / middle / passive)</a:t>
            </a:r>
          </a:p>
          <a:p>
            <a:pPr lvl="0"/>
            <a:r>
              <a:rPr/>
              <a:t>aspect (perfective / imperfective)</a:t>
            </a:r>
          </a:p>
          <a:p>
            <a:pPr lvl="0"/>
            <a:r>
              <a:rPr/>
              <a:t>tense, mood, verb-form</a:t>
            </a:r>
          </a:p>
          <a:p>
            <a:pPr lvl="0" indent="0" marL="0">
              <a:buNone/>
            </a:pPr>
            <a:r>
              <a:rPr/>
              <a:t>Stored per row in a column accessible to graph queries over the cross-lingual alignment edges.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“Show every Greek aorist transitive verb with an accusative object whose Latin Vulgate counterpart is a passive periphrastic”</a:t>
            </a:r>
          </a:p>
          <a:p>
            <a:pPr lvl="0" indent="0" marL="0">
              <a:buNone/>
            </a:pPr>
            <a:r>
              <a:rPr/>
              <a:t>Translates to a Neo4j (a graph database that stores data as nodes and connections rather than as tables) Cypher query traversing the </a:t>
            </a:r>
            <a:r>
              <a:rPr>
                <a:latin typeface="Courier"/>
              </a:rPr>
              <a:t>(Token)-[TRANSLATED_AS]-&gt;(Token)</a:t>
            </a:r>
            <a:r>
              <a:rPr/>
              <a:t> edges where source carries </a:t>
            </a:r>
            <a:r>
              <a:rPr>
                <a:latin typeface="Courier"/>
              </a:rPr>
              <a:t>voice=Act,aspect=Perf,obj=Acc</a:t>
            </a:r>
            <a:r>
              <a:rPr/>
              <a:t> and target carries </a:t>
            </a:r>
            <a:r>
              <a:rPr>
                <a:latin typeface="Courier"/>
              </a:rPr>
              <a:t>voice=Pass,verb_form=Periphrastic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Source code:</a:t>
            </a:r>
            <a:r>
              <a:rPr/>
              <a:t> </a:t>
            </a:r>
            <a:r>
              <a:rPr>
                <a:hlinkClick r:id="rId2"/>
              </a:rPr>
              <a:t>https://github.com/AthDGC/Diachronic-Linguistics-Platform</a:t>
            </a:r>
            <a:r>
              <a:rPr/>
              <a:t> (Apache-2.0 (a permissive open-source licence widely used for software))</a:t>
            </a:r>
          </a:p>
          <a:p>
            <a:pPr lvl="0"/>
            <a:r>
              <a:rPr b="1"/>
              <a:t>Dataset DOI (Digital Object Identifier, a permanent web link for a published artefact):</a:t>
            </a:r>
            <a:r>
              <a:rPr/>
              <a:t> </a:t>
            </a:r>
            <a:r>
              <a:rPr>
                <a:hlinkClick r:id="rId3"/>
              </a:rPr>
              <a:t>10.5281/zenodo.20439182</a:t>
            </a:r>
            <a:r>
              <a:rPr/>
              <a:t> (CC-BY-4.0 (the Creative Commons Attribution 4.0 licence, which permits reuse with credit))</a:t>
            </a:r>
          </a:p>
          <a:p>
            <a:pPr lvl="0"/>
            <a:r>
              <a:rPr b="1"/>
              <a:t>Showcase:</a:t>
            </a:r>
            <a:r>
              <a:rPr/>
              <a:t> </a:t>
            </a:r>
            <a:r>
              <a:rPr>
                <a:hlinkClick r:id="rId4"/>
              </a:rPr>
              <a:t>athdgc.github.io</a:t>
            </a:r>
          </a:p>
          <a:p>
            <a:pPr lvl="0"/>
            <a:r>
              <a:rPr b="1"/>
              <a:t>Hugging Face (a public hosting platform for machine-learning models and datasets) checkpoints (saved snapshots of a trained model):</a:t>
            </a:r>
            <a:r>
              <a:rPr/>
              <a:t> mirror at </a:t>
            </a:r>
            <a:r>
              <a:rPr>
                <a:hlinkClick r:id="rId5"/>
              </a:rPr>
              <a:t>https://huggingface.co/AthDGC</a:t>
            </a:r>
            <a:r>
              <a:rPr/>
              <a:t> in setup; released at v0.5</a:t>
            </a:r>
          </a:p>
          <a:p>
            <a:pPr lvl="0"/>
            <a:r>
              <a:rPr b="1"/>
              <a:t>Launch report:</a:t>
            </a:r>
            <a:r>
              <a:rPr/>
              <a:t> </a:t>
            </a:r>
            <a:r>
              <a:rPr>
                <a:hlinkClick r:id="rId6"/>
              </a:rPr>
              <a:t>GlossaContactLab Working Papers, NKUA digital edition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PI:</a:t>
            </a:r>
            <a:r>
              <a:rPr/>
              <a:t> Prof. Nikolaos Lavidas (NKUA) </a:t>
            </a:r>
            <a:r>
              <a:rPr b="1"/>
              <a:t>International:</a:t>
            </a:r>
            <a:r>
              <a:rPr/>
              <a:t> Prof. Dag Haug (Oslo, PROIEL Project Director); Prof. Leonid Kulikov (Ghent; Diachronic typology, valency (the number and type of arguments a verb takes) questionnaires) </a:t>
            </a:r>
            <a:r>
              <a:rPr b="1"/>
              <a:t>NKUA:</a:t>
            </a:r>
            <a:r>
              <a:rPr/>
              <a:t> Prof. Emerita Kiki Nikiforidou; Dr. Vassiliki Geka, Dr. Vassileios Symeonidis, Dr. Theodoros Michalareas (Post-Doctoral Researchers); Sofia Chionidi, Anastasia Tsiropina, Eleni Plakoutsi (PhD Candidates); Evangelos Argyropoulos (Research Assistant)</a:t>
            </a:r>
          </a:p>
          <a:p>
            <a:pPr lvl="0" indent="0" marL="0">
              <a:buNone/>
            </a:pPr>
            <a:r>
              <a:rPr/>
              <a:t>Funded by HFRI (Project No. 20577) · Greece 2.0 NRRP Compute: GRNET ARIS (the Greek national high-performance computing cluster, run by GRNET) (pa260305)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CIDL participants can do with AthDGC today:</a:t>
            </a:r>
          </a:p>
          <a:p>
            <a:pPr lvl="0" indent="-342900" marL="342900">
              <a:buAutoNum type="arabicPeriod"/>
            </a:pPr>
            <a:r>
              <a:rPr/>
              <a:t>Query the corpus via the public Neo4j endpoint</a:t>
            </a:r>
          </a:p>
          <a:p>
            <a:pPr lvl="0" indent="-342900" marL="342900">
              <a:buAutoNum type="arabicPeriod"/>
            </a:pPr>
            <a:r>
              <a:rPr/>
              <a:t>Pull period-specific JSONL (a plain-text data format that stores one record per line) partitions from Hugging Face</a:t>
            </a:r>
          </a:p>
          <a:p>
            <a:pPr lvl="0" indent="-342900" marL="342900">
              <a:buAutoNum type="arabicPeriod"/>
            </a:pPr>
            <a:r>
              <a:rPr/>
              <a:t>Browse the PROIEL XML 2.0 (the file format that stores each sentence as a tree of word-by-word grammatical relations, developed at Oslo) samples on </a:t>
            </a:r>
            <a:r>
              <a:rPr>
                <a:latin typeface="Courier"/>
              </a:rPr>
              <a:t>athdgc.github.io</a:t>
            </a:r>
          </a:p>
          <a:p>
            <a:pPr lvl="0" indent="-342900" marL="342900">
              <a:buAutoNum type="arabicPeriod"/>
            </a:pPr>
            <a:r>
              <a:rPr/>
              <a:t>Flag annotation errors via the showcase review toolbar</a:t>
            </a:r>
          </a:p>
          <a:p>
            <a:pPr lvl="0" indent="-342900" marL="342900">
              <a:buAutoNum type="arabicPeriod"/>
            </a:pPr>
            <a:r>
              <a:rPr/>
              <a:t>Cite version-pinned datasets via the version DOIs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athdgc.github.io</a:t>
            </a:r>
            <a:r>
              <a:rPr/>
              <a:t> · </a:t>
            </a:r>
            <a:r>
              <a:rPr>
                <a:hlinkClick r:id="rId3"/>
              </a:rPr>
              <a:t>github.com/AthDGC</a:t>
            </a:r>
            <a:r>
              <a:rPr/>
              <a:t> </a:t>
            </a:r>
            <a:r>
              <a:rPr>
                <a:hlinkClick r:id="rId4"/>
              </a:rPr>
              <a:t>10.5281/zenodo.20439182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Funded by the </a:t>
            </a:r>
            <a:r>
              <a:rPr b="1"/>
              <a:t>Hellenic Foundation for Research and Innovation (HFRI)</a:t>
            </a:r>
            <a:r>
              <a:rPr/>
              <a:t> under the 3rd Call for HFRI Research Projects to support Post-Doctoral Researchers, </a:t>
            </a:r>
            <a:r>
              <a:rPr b="1"/>
              <a:t>Project No. 20577</a:t>
            </a:r>
            <a:r>
              <a:rPr/>
              <a:t>; with complementary support from the </a:t>
            </a:r>
            <a:r>
              <a:rPr b="1"/>
              <a:t>Greece 2.0 National Recovery and Resilience Plan</a:t>
            </a:r>
            <a:r>
              <a:rPr/>
              <a:t>. Compute supplied by </a:t>
            </a:r>
            <a:r>
              <a:rPr b="1"/>
              <a:t>GRNET ARIS</a:t>
            </a:r>
            <a:r>
              <a:rPr/>
              <a:t> (Greek national HPC (high-performance computing, i.e. a cluster of fast machines used for heavy computation)), allocation </a:t>
            </a:r>
            <a:r>
              <a:rPr>
                <a:latin typeface="Courier"/>
              </a:rPr>
              <a:t>pa260305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AthDGC at CIDL 2026</dc:title>
  <dc:creator>Nikolaos Lavidas</dc:creator>
  <cp:keywords/>
  <dcterms:created xsi:type="dcterms:W3CDTF">2026-06-19T20:08:40Z</dcterms:created>
  <dcterms:modified xsi:type="dcterms:W3CDTF">2026-06-19T20:08:40Z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June 15, 2026</vt:lpwstr>
  </property>
  <property fmtid="{D5CDD505-2E9C-101B-9397-08002B2CF9AE}" pid="9" name="date-format">
    <vt:lpwstr>long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subtitle">
    <vt:lpwstr>Civis Diachronic Linguistics · Athens · CIVIS BIP</vt:lpwstr>
  </property>
  <property fmtid="{D5CDD505-2E9C-101B-9397-08002B2CF9AE}" pid="16" name="toc-title">
    <vt:lpwstr>Table of contents</vt:lpwstr>
  </property>
</Properties>
</file>