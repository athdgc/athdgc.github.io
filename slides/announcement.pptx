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5281/zenodo.20439182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thdgc.github.io" TargetMode="External" /><Relationship Id="rId3" Type="http://schemas.openxmlformats.org/officeDocument/2006/relationships/hyperlink" Target="https://athdgc.github.io/samples.html" TargetMode="External" /><Relationship Id="rId4" Type="http://schemas.openxmlformats.org/officeDocument/2006/relationships/hyperlink" Target="https://athdgc.github.io/tools.html" TargetMode="External" /><Relationship Id="rId5" Type="http://schemas.openxmlformats.org/officeDocument/2006/relationships/hyperlink" Target="https://athdgc.github.io/press.html" TargetMode="External" /><Relationship Id="rId6" Type="http://schemas.openxmlformats.org/officeDocument/2006/relationships/hyperlink" Target="https://athdgc.github.io/data_paper.html" TargetMode="External" /><Relationship Id="rId7" Type="http://schemas.openxmlformats.org/officeDocument/2006/relationships/hyperlink" Target="https://github.com/AthDGC" TargetMode="External" /><Relationship Id="rId8" Type="http://schemas.openxmlformats.org/officeDocument/2006/relationships/hyperlink" Target="https://huggingface.co/AthDGC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AthDGC · Athens-PROIEL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 open diachronic Greek treebank with Indo-European parallels</a:t>
            </a:r>
            <a:br/>
            <a:br/>
            <a:r>
              <a:rPr/>
              <a:t>Nikolaos Lavidas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June 19,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Athens Digital Glossa Chronos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Athens Digital Glossa Chronos</a:t>
            </a:r>
            <a:r>
              <a:rPr/>
              <a:t> (</a:t>
            </a:r>
            <a:r>
              <a:rPr i="1"/>
              <a:t>Athens-PROIEL (the dependency-treebank (a collection of sentences whose grammatical structure has been analysed and stored) standard for early Indo-European languages, developed at Oslo)</a:t>
            </a:r>
            <a:r>
              <a:rPr/>
              <a:t>) is an open PROIEL-style dependency treebank spanning Greek diachrony with Indo-European parallels.</a:t>
            </a:r>
          </a:p>
          <a:p>
            <a:pPr lvl="0" indent="0" marL="0">
              <a:buNone/>
            </a:pPr>
            <a:r>
              <a:rPr/>
              <a:t>NKUA · Division of Language-Linguistics, Department of English Language and Literature, School of Philosophy</a:t>
            </a:r>
          </a:p>
          <a:p>
            <a:pPr lvl="0" indent="0" marL="0">
              <a:buNone/>
            </a:pPr>
            <a:r>
              <a:rPr/>
              <a:t>Funded by HFRI (Project No. 20577) · Greece 2.0 NRRP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Corpus +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AthDGC is </a:t>
            </a:r>
            <a:r>
              <a:rPr b="1"/>
              <a:t>both</a:t>
            </a:r>
            <a:r>
              <a:rPr/>
              <a:t> a continuously-updated </a:t>
            </a:r>
            <a:r>
              <a:rPr b="1"/>
              <a:t>PROIEL XML 2.0 (the file format that stores each sentence as a tree of word-by-word grammatical relations, developed at Oslo)</a:t>
            </a:r>
            <a:r>
              <a:rPr/>
              <a:t> treebank </a:t>
            </a:r>
            <a:r>
              <a:rPr b="1"/>
              <a:t>and</a:t>
            </a:r>
            <a:r>
              <a:rPr/>
              <a:t> an open-source </a:t>
            </a:r>
            <a:r>
              <a:rPr b="1"/>
              <a:t>computational diachronic-linguistics toolkit</a:t>
            </a:r>
            <a:r>
              <a:rPr/>
              <a:t>:</a:t>
            </a:r>
          </a:p>
          <a:p>
            <a:pPr lvl="0"/>
            <a:r>
              <a:rPr/>
              <a:t>LightSIDE (an open-source text-mining workbench developed at Carnegie Mellon)-compatible feature extraction + classifier training</a:t>
            </a:r>
          </a:p>
          <a:p>
            <a:pPr lvl="0"/>
            <a:r>
              <a:rPr/>
              <a:t>NoSketch-style concordancer (a search tool that shows every occurrence of a word in its surrounding context)</a:t>
            </a:r>
          </a:p>
          <a:p>
            <a:pPr lvl="0"/>
            <a:r>
              <a:rPr/>
              <a:t>Fine-tuned (further trained on new data to adapt it to a particular text type) Stanza (Stanford’s open-source Python workflow that automatically tags, lemmatises, and parses sentences) checkpoints (Byzantine, Late-Byzantine, Modern adaptations)</a:t>
            </a:r>
          </a:p>
          <a:p>
            <a:pPr lvl="0"/>
            <a:r>
              <a:rPr/>
              <a:t>Argument-structure extractor</a:t>
            </a:r>
          </a:p>
          <a:p>
            <a:pPr lvl="0"/>
            <a:r>
              <a:rPr/>
              <a:t>Cross-lingual alignment (matching corresponding words or sentences between texts in different languages) viewer (Neo4j (a graph database that stores data as nodes and connections rather than as tables))</a:t>
            </a:r>
          </a:p>
          <a:p>
            <a:pPr lvl="0"/>
            <a:r>
              <a:rPr/>
              <a:t>Quarto (an open-source publishing system that builds websites, slides, papers, and posters from a single source) template pack for any DH project (this very deck is built with it)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corpus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Covers:</a:t>
            </a:r>
          </a:p>
          <a:p>
            <a:pPr lvl="0"/>
            <a:r>
              <a:rPr/>
              <a:t>Homeric and Archaic Greek (Homer, Hesiod, Sappho, Pindar)</a:t>
            </a:r>
          </a:p>
          <a:p>
            <a:pPr lvl="0"/>
            <a:r>
              <a:rPr/>
              <a:t>Classical (Aeschylus, Sophocles, Euripides, Aristophanes, Plato, Aristotle)</a:t>
            </a:r>
          </a:p>
          <a:p>
            <a:pPr lvl="0"/>
            <a:r>
              <a:rPr/>
              <a:t>Koine and NT (Plutarch, Strabo, Lucian, the New Testament)</a:t>
            </a:r>
          </a:p>
          <a:p>
            <a:pPr lvl="0"/>
            <a:r>
              <a:rPr/>
              <a:t>Late Antique (Eusebius, Basil, Chrysostom, Procopius)</a:t>
            </a:r>
          </a:p>
          <a:p>
            <a:pPr lvl="0"/>
            <a:r>
              <a:rPr/>
              <a:t>Byzantine (Psellos, Anna Komnene, John of Damascus, Niketas Choniates)</a:t>
            </a:r>
          </a:p>
          <a:p>
            <a:pPr lvl="0" indent="0" marL="0">
              <a:buNone/>
            </a:pPr>
            <a:r>
              <a:rPr/>
              <a:t>with </a:t>
            </a:r>
            <a:r>
              <a:rPr b="1"/>
              <a:t>NT verse-level cross-alignment</a:t>
            </a:r>
            <a:r>
              <a:rPr/>
              <a:t> to Latin (Vulgate), Gothic (Wulfila), and Old Church Slavonic (Marianus).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state (v0.4)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Greek periods covered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(Archaic - Modern)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IE cross-aligned witnesses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(Latin Vulgate, Gothic Wulfila, OCS Marianus, Classical Armenian in ingestion)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Per-witness verse counts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v0.5 release notes (post-ARIS audit)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Discovery</a:t>
            </a:r>
            <a:r>
              <a:rPr/>
              <a:t>, daily harvest from archive.org, Perseus, First1K, Wikisource, Diorisis</a:t>
            </a:r>
          </a:p>
          <a:p>
            <a:pPr lvl="0" indent="-342900" marL="342900">
              <a:buAutoNum type="arabicPeriod"/>
            </a:pPr>
            <a:r>
              <a:rPr b="1"/>
              <a:t>Filtering</a:t>
            </a:r>
            <a:r>
              <a:rPr/>
              <a:t>, Greek-script ratio, apparatus-criticus rejection, dedup</a:t>
            </a:r>
          </a:p>
          <a:p>
            <a:pPr lvl="0" indent="-342900" marL="342900">
              <a:buAutoNum type="arabicPeriod"/>
            </a:pPr>
            <a:r>
              <a:rPr b="1"/>
              <a:t>Conversion</a:t>
            </a:r>
            <a:r>
              <a:rPr/>
              <a:t>, PROIEL XML 2.0</a:t>
            </a:r>
          </a:p>
          <a:p>
            <a:pPr lvl="0" indent="-342900" marL="342900">
              <a:buAutoNum type="arabicPeriod"/>
            </a:pPr>
            <a:r>
              <a:rPr b="1"/>
              <a:t>Annotation</a:t>
            </a:r>
            <a:r>
              <a:rPr/>
              <a:t>, Stanza </a:t>
            </a:r>
            <a:r>
              <a:rPr>
                <a:latin typeface="Courier"/>
              </a:rPr>
              <a:t>grc_proiel</a:t>
            </a:r>
            <a:r>
              <a:rPr/>
              <a:t> + analogous models per parallel language</a:t>
            </a:r>
          </a:p>
          <a:p>
            <a:pPr lvl="0" indent="-342900" marL="342900">
              <a:buAutoNum type="arabicPeriod"/>
            </a:pPr>
            <a:r>
              <a:rPr b="1"/>
              <a:t>Argument-structure</a:t>
            </a:r>
            <a:r>
              <a:rPr/>
              <a:t>, subject, object, oblique, voice, aspect per verb</a:t>
            </a:r>
          </a:p>
          <a:p>
            <a:pPr lvl="0" indent="-342900" marL="342900">
              <a:buAutoNum type="arabicPeriod"/>
            </a:pPr>
            <a:r>
              <a:rPr b="1"/>
              <a:t>Cross-alignment</a:t>
            </a:r>
            <a:r>
              <a:rPr/>
              <a:t>, LaBSE (a multilingual sentence-embedding model that maps sentences from many languages into a common vector space) + AwesomeAlign (a word-alignment procedure that uses multilingual-BERT attention to match words across translations) (mBERT)</a:t>
            </a:r>
          </a:p>
          <a:p>
            <a:pPr lvl="0" indent="-342900" marL="342900">
              <a:buAutoNum type="arabicPeriod"/>
            </a:pPr>
            <a:r>
              <a:rPr b="1"/>
              <a:t>Storage</a:t>
            </a:r>
            <a:r>
              <a:rPr/>
              <a:t>, PROIEL XML + JSONL (a plain-text data format that stores one record per line) + Qdrant + Neo4j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Scholarly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Retranslation</a:t>
            </a:r>
            <a:r>
              <a:rPr/>
              <a:t> of influential texts (Iliad, NT, Septuagint Psalms, classical historiography)</a:t>
            </a:r>
          </a:p>
          <a:p>
            <a:pPr lvl="0"/>
            <a:r>
              <a:rPr b="1"/>
              <a:t>Retelling</a:t>
            </a:r>
            <a:r>
              <a:rPr/>
              <a:t> chains across periods and languages</a:t>
            </a:r>
          </a:p>
          <a:p>
            <a:pPr lvl="0"/>
            <a:r>
              <a:rPr b="1"/>
              <a:t>Argument structure (the set of obligatory and optional partners a verb requires, e.g. subject, object, oblique)</a:t>
            </a:r>
            <a:r>
              <a:rPr/>
              <a:t> under retranslation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Lavidas (PI) · Nikiforidou · Haug (Oslo) · Kulikov (Ghent)</a:t>
            </a:r>
          </a:p>
          <a:p>
            <a:pPr lvl="0"/>
            <a:r>
              <a:rPr/>
              <a:t>Geka · Symeonidis · Michalareas</a:t>
            </a:r>
          </a:p>
          <a:p>
            <a:pPr lvl="0"/>
            <a:r>
              <a:rPr/>
              <a:t>Chionidi · Tsiropina · Plakoutsi · Argyropoulos</a:t>
            </a:r>
          </a:p>
          <a:p>
            <a:pPr lvl="0" indent="0" marL="0">
              <a:buNone/>
            </a:pPr>
            <a:r>
              <a:rPr/>
              <a:t>NKUA · Athens Digital Glossa Chronos Research Network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cite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Lavidas, N., Nikiforidou, K., Haug, D., Kulikov, L., Geka, V., Symeonidis, V., Michalareas, T., Chionidi, S., Tsiropina, A., Plakoutsi, E., and Argyropoulos, E. (2026). </a:t>
            </a:r>
            <a:r>
              <a:rPr i="1"/>
              <a:t>AthDGC: Athens Digital Glossa Chronos</a:t>
            </a:r>
            <a:r>
              <a:rPr/>
              <a:t>. Zenodo (an open research-data repository hosted at CERN that mints permanent DOIs).</a:t>
            </a:r>
          </a:p>
          <a:p>
            <a:pPr lvl="0" indent="0" marL="0">
              <a:buNone/>
            </a:pPr>
            <a:r>
              <a:rPr/>
              <a:t>DOI (Digital Object Identifier, a permanent web link for a published artefact): </a:t>
            </a:r>
            <a:r>
              <a:rPr>
                <a:hlinkClick r:id="rId2"/>
              </a:rPr>
              <a:t>10.5281/zenodo.20439182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Showcase: </a:t>
            </a:r>
            <a:r>
              <a:rPr>
                <a:hlinkClick r:id="rId2"/>
              </a:rPr>
              <a:t>https://athdgc.github.io</a:t>
            </a:r>
          </a:p>
          <a:p>
            <a:pPr lvl="0"/>
            <a:r>
              <a:rPr/>
              <a:t>Samples: </a:t>
            </a:r>
            <a:r>
              <a:rPr>
                <a:hlinkClick r:id="rId3"/>
              </a:rPr>
              <a:t>https://athdgc.github.io/samples.html</a:t>
            </a:r>
          </a:p>
          <a:p>
            <a:pPr lvl="0"/>
            <a:r>
              <a:rPr/>
              <a:t>Tools: </a:t>
            </a:r>
            <a:r>
              <a:rPr>
                <a:hlinkClick r:id="rId4"/>
              </a:rPr>
              <a:t>https://athdgc.github.io/tools.html</a:t>
            </a:r>
          </a:p>
          <a:p>
            <a:pPr lvl="0"/>
            <a:r>
              <a:rPr/>
              <a:t>Press kit: </a:t>
            </a:r>
            <a:r>
              <a:rPr>
                <a:hlinkClick r:id="rId5"/>
              </a:rPr>
              <a:t>https://athdgc.github.io/press.html</a:t>
            </a:r>
          </a:p>
          <a:p>
            <a:pPr lvl="0"/>
            <a:r>
              <a:rPr/>
              <a:t>Launch report: </a:t>
            </a:r>
            <a:r>
              <a:rPr>
                <a:hlinkClick r:id="rId6"/>
              </a:rPr>
              <a:t>https://athdgc.github.io/data_paper.html</a:t>
            </a:r>
          </a:p>
          <a:p>
            <a:pPr lvl="0"/>
            <a:r>
              <a:rPr/>
              <a:t>GitHub: </a:t>
            </a:r>
            <a:r>
              <a:rPr>
                <a:hlinkClick r:id="rId7"/>
              </a:rPr>
              <a:t>https://github.com/AthDGC</a:t>
            </a:r>
          </a:p>
          <a:p>
            <a:pPr lvl="0"/>
            <a:r>
              <a:rPr/>
              <a:t>Hugging Face (a public hosting platform for machine-learning models and datasets) mirror: </a:t>
            </a:r>
            <a:r>
              <a:rPr>
                <a:hlinkClick r:id="rId8"/>
              </a:rPr>
              <a:t>https://huggingface.co/AthDGC</a:t>
            </a:r>
            <a:r>
              <a:rPr/>
              <a:t> (in setup; released at v0.5)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Funded by the </a:t>
            </a:r>
            <a:r>
              <a:rPr b="1"/>
              <a:t>Hellenic Foundation for Research and Innovation (HFRI)</a:t>
            </a:r>
            <a:r>
              <a:rPr/>
              <a:t> under the 3rd Call for HFRI Research Projects to support Post-Doctoral Researchers, </a:t>
            </a:r>
            <a:r>
              <a:rPr b="1"/>
              <a:t>Project No. 20577</a:t>
            </a:r>
            <a:r>
              <a:rPr/>
              <a:t>; with complementary support from the </a:t>
            </a:r>
            <a:r>
              <a:rPr b="1"/>
              <a:t>Greece 2.0 National Recovery and Resilience Plan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Compute supplied by </a:t>
            </a:r>
            <a:r>
              <a:rPr b="1"/>
              <a:t>GRNET ARIS (the Greek national high-performance computing cluster, run by GRNET)</a:t>
            </a:r>
            <a:r>
              <a:rPr/>
              <a:t> (Greek national HPC (high-performance computing, i.e. a cluster of fast machines used for heavy computation)), allocation </a:t>
            </a:r>
            <a:r>
              <a:rPr>
                <a:latin typeface="Courier"/>
              </a:rPr>
              <a:t>pa260305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AthDGC · Athens-PROIEL</dc:title>
  <dc:creator>Nikolaos Lavidas</dc:creator>
  <cp:keywords/>
  <dcterms:created xsi:type="dcterms:W3CDTF">2026-06-19T20:08:32Z</dcterms:created>
  <dcterms:modified xsi:type="dcterms:W3CDTF">2026-06-19T20:08:32Z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/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date">
    <vt:lpwstr>June 19, 2026</vt:lpwstr>
  </property>
  <property fmtid="{D5CDD505-2E9C-101B-9397-08002B2CF9AE}" pid="9" name="date-format">
    <vt:lpwstr>long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labels">
    <vt:lpwstr/>
  </property>
  <property fmtid="{D5CDD505-2E9C-101B-9397-08002B2CF9AE}" pid="15" name="subtitle">
    <vt:lpwstr>An open diachronic Greek treebank with Indo-European parallels</vt:lpwstr>
  </property>
  <property fmtid="{D5CDD505-2E9C-101B-9397-08002B2CF9AE}" pid="16" name="toc-title">
    <vt:lpwstr>Table of contents</vt:lpwstr>
  </property>
</Properties>
</file>