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athdgc.github.io/athdgc_press.html" TargetMode="External" /><Relationship Id="rId4" Type="http://schemas.openxmlformats.org/officeDocument/2006/relationships/hyperlink" Target="https://github.com/AthDGC" TargetMode="External" /><Relationship Id="rId5" Type="http://schemas.openxmlformats.org/officeDocument/2006/relationships/hyperlink" Target="https://athdgc.github.io/hfri2024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· Athens-PROIEL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 open diachronic Greek treebank with Indo-European parallels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Athens Digital Glossa Chronos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Athens Diachronic Glossa Chronos</a:t>
            </a:r>
            <a:r>
              <a:rPr/>
              <a:t> (</a:t>
            </a:r>
            <a:r>
              <a:rPr i="1"/>
              <a:t>Athens-PROIEL</a:t>
            </a:r>
            <a:r>
              <a:rPr/>
              <a:t>) is an open PROIEL-style dependency treebank spanning Greek diachrony with Indo-European parallels.</a:t>
            </a:r>
          </a:p>
          <a:p>
            <a:pPr lvl="0" indent="0" marL="0">
              <a:buNone/>
            </a:pPr>
            <a:r>
              <a:rPr/>
              <a:t>NKUA · Division of Language-Linguistics, Department of English Language and Literature, School of Philosophy</a:t>
            </a:r>
          </a:p>
          <a:p>
            <a:pPr lvl="0" indent="0" marL="0">
              <a:buNone/>
            </a:pPr>
            <a:r>
              <a:rPr/>
              <a:t>Funded by HFRI (Project No. 20577) · Greece 2.0 NRRP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Corpus +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is </a:t>
            </a:r>
            <a:r>
              <a:rPr b="1"/>
              <a:t>both</a:t>
            </a:r>
            <a:r>
              <a:rPr/>
              <a:t> a continuously-updated </a:t>
            </a:r>
            <a:r>
              <a:rPr b="1"/>
              <a:t>PROIEL XML 2.0</a:t>
            </a:r>
            <a:r>
              <a:rPr/>
              <a:t> treebank </a:t>
            </a:r>
            <a:r>
              <a:rPr b="1"/>
              <a:t>and</a:t>
            </a:r>
            <a:r>
              <a:rPr/>
              <a:t> an open-source </a:t>
            </a:r>
            <a:r>
              <a:rPr b="1"/>
              <a:t>computational diachronic-linguistics toolkit</a:t>
            </a:r>
            <a:r>
              <a:rPr/>
              <a:t>:</a:t>
            </a:r>
          </a:p>
          <a:p>
            <a:pPr lvl="0"/>
            <a:r>
              <a:rPr/>
              <a:t>LightSIDE-compatible feature extraction + classifier training</a:t>
            </a:r>
          </a:p>
          <a:p>
            <a:pPr lvl="0"/>
            <a:r>
              <a:rPr/>
              <a:t>NoSketch-style concordancer</a:t>
            </a:r>
          </a:p>
          <a:p>
            <a:pPr lvl="0"/>
            <a:r>
              <a:rPr/>
              <a:t>Fine-tuned Stanza checkpoints (Byzantine, Late-Byzantine, Modern adaptations)</a:t>
            </a:r>
          </a:p>
          <a:p>
            <a:pPr lvl="0"/>
            <a:r>
              <a:rPr/>
              <a:t>Argument-structure extractor</a:t>
            </a:r>
          </a:p>
          <a:p>
            <a:pPr lvl="0"/>
            <a:r>
              <a:rPr/>
              <a:t>Cross-lingual alignment viewer (Neo4j)</a:t>
            </a:r>
          </a:p>
          <a:p>
            <a:pPr lvl="0"/>
            <a:r>
              <a:rPr/>
              <a:t>Quarto template pack for any DH project (this very deck is built with it)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corpus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Covers:</a:t>
            </a:r>
          </a:p>
          <a:p>
            <a:pPr lvl="0"/>
            <a:r>
              <a:rPr/>
              <a:t>Homeric and Archaic Greek (Homer, Hesiod, Sappho, Pindar)</a:t>
            </a:r>
          </a:p>
          <a:p>
            <a:pPr lvl="0"/>
            <a:r>
              <a:rPr/>
              <a:t>Classical (Aeschylus, Sophocles, Euripides, Aristophanes, Plato, Aristotle)</a:t>
            </a:r>
          </a:p>
          <a:p>
            <a:pPr lvl="0"/>
            <a:r>
              <a:rPr/>
              <a:t>Koine and NT (Plutarch, Strabo, Lucian, the New Testament)</a:t>
            </a:r>
          </a:p>
          <a:p>
            <a:pPr lvl="0"/>
            <a:r>
              <a:rPr/>
              <a:t>Late Antique (Eusebius, Basil, Chrysostom, Procopius)</a:t>
            </a:r>
          </a:p>
          <a:p>
            <a:pPr lvl="0"/>
            <a:r>
              <a:rPr/>
              <a:t>Byzantine (Psellos, Anna Komnene, John of Damascus, Niketas Choniates)</a:t>
            </a:r>
          </a:p>
          <a:p>
            <a:pPr lvl="0" indent="0" marL="0">
              <a:buNone/>
            </a:pPr>
            <a:r>
              <a:rPr/>
              <a:t>with </a:t>
            </a:r>
            <a:r>
              <a:rPr b="1"/>
              <a:t>NT verse-level cross-alignment</a:t>
            </a:r>
            <a:r>
              <a:rPr/>
              <a:t> to Latin (Vulgate), Gothic (Wulfila), and Old Church Slavonic (Marianus).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state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 corpus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89.9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4.08 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NT-aligned Greek verses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6,861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IE cross-aligned witnesses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Discovery</a:t>
            </a:r>
            <a:r>
              <a:rPr/>
              <a:t> - daily harvest from archive.org, Perseus, First1K, Wikisource, Diorisis</a:t>
            </a:r>
          </a:p>
          <a:p>
            <a:pPr lvl="0" indent="-342900" marL="342900">
              <a:buAutoNum type="arabicPeriod"/>
            </a:pPr>
            <a:r>
              <a:rPr b="1"/>
              <a:t>Filtering</a:t>
            </a:r>
            <a:r>
              <a:rPr/>
              <a:t> - Greek-script ratio, apparatus-criticus rejection, dedup</a:t>
            </a:r>
          </a:p>
          <a:p>
            <a:pPr lvl="0" indent="-342900" marL="342900">
              <a:buAutoNum type="arabicPeriod"/>
            </a:pPr>
            <a:r>
              <a:rPr b="1"/>
              <a:t>Conversion</a:t>
            </a:r>
            <a:r>
              <a:rPr/>
              <a:t> - PROIEL XML 2.0</a:t>
            </a:r>
          </a:p>
          <a:p>
            <a:pPr lvl="0" indent="-342900" marL="342900">
              <a:buAutoNum type="arabicPeriod"/>
            </a:pPr>
            <a:r>
              <a:rPr b="1"/>
              <a:t>Annotation</a:t>
            </a:r>
            <a:r>
              <a:rPr/>
              <a:t> - Stanza </a:t>
            </a:r>
            <a:r>
              <a:rPr>
                <a:latin typeface="Courier"/>
              </a:rPr>
              <a:t>grc_proiel</a:t>
            </a:r>
            <a:r>
              <a:rPr/>
              <a:t> + analogous models per parallel language</a:t>
            </a:r>
          </a:p>
          <a:p>
            <a:pPr lvl="0" indent="-342900" marL="342900">
              <a:buAutoNum type="arabicPeriod"/>
            </a:pPr>
            <a:r>
              <a:rPr b="1"/>
              <a:t>Argument-structure</a:t>
            </a:r>
            <a:r>
              <a:rPr/>
              <a:t> - subject, object, oblique, voice, aspect per verb</a:t>
            </a:r>
          </a:p>
          <a:p>
            <a:pPr lvl="0" indent="-342900" marL="342900">
              <a:buAutoNum type="arabicPeriod"/>
            </a:pPr>
            <a:r>
              <a:rPr b="1"/>
              <a:t>Cross-alignment</a:t>
            </a:r>
            <a:r>
              <a:rPr/>
              <a:t> - LaBSE + AwesomeAlign (mBERT)</a:t>
            </a:r>
          </a:p>
          <a:p>
            <a:pPr lvl="0" indent="-342900" marL="342900">
              <a:buAutoNum type="arabicPeriod"/>
            </a:pPr>
            <a:r>
              <a:rPr b="1"/>
              <a:t>Storage</a:t>
            </a:r>
            <a:r>
              <a:rPr/>
              <a:t> - PROIEL XML + JSONL + Qdrant + Neo4j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Scholarly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Retranslation</a:t>
            </a:r>
            <a:r>
              <a:rPr/>
              <a:t> of influential texts (Iliad, NT, Septuagint Psalms, classical historiography)</a:t>
            </a:r>
          </a:p>
          <a:p>
            <a:pPr lvl="0"/>
            <a:r>
              <a:rPr b="1"/>
              <a:t>Retelling</a:t>
            </a:r>
            <a:r>
              <a:rPr/>
              <a:t> chains across periods and languages</a:t>
            </a:r>
          </a:p>
          <a:p>
            <a:pPr lvl="0"/>
            <a:r>
              <a:rPr b="1"/>
              <a:t>Argument structure</a:t>
            </a:r>
            <a:r>
              <a:rPr/>
              <a:t> under retranslation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Lavidas (PI) · Nikiforidou · Haug (Oslo) · Kulikov (Ghent)</a:t>
            </a:r>
          </a:p>
          <a:p>
            <a:pPr lvl="0"/>
            <a:r>
              <a:rPr/>
              <a:t>Geka · Symeonidis · Michalareas</a:t>
            </a:r>
          </a:p>
          <a:p>
            <a:pPr lvl="0"/>
            <a:r>
              <a:rPr/>
              <a:t>Chionidi · Tsiropina · Plakoutsi · Argyropoulos</a:t>
            </a:r>
          </a:p>
          <a:p>
            <a:pPr lvl="0" indent="0" marL="0">
              <a:buNone/>
            </a:pPr>
            <a:r>
              <a:rPr/>
              <a:t>NKUA · Athens Digital Glossa Chronos Research Network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  <a:p>
            <a:pPr lvl="0" indent="0" marL="0">
              <a:buNone/>
            </a:pPr>
            <a:r>
              <a:rPr/>
              <a:t>DOI: </a:t>
            </a:r>
            <a:r>
              <a:rPr>
                <a:hlinkClick r:id="rId2"/>
              </a:rPr>
              <a:t>10.5281/zenodo.20439182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Showcase: </a:t>
            </a:r>
            <a:r>
              <a:rPr>
                <a:hlinkClick r:id="rId2"/>
              </a:rPr>
              <a:t>https://athdgc.github.io</a:t>
            </a:r>
          </a:p>
          <a:p>
            <a:pPr lvl="0"/>
            <a:r>
              <a:rPr/>
              <a:t>Press: </a:t>
            </a:r>
            <a:r>
              <a:rPr>
                <a:hlinkClick r:id="rId3"/>
              </a:rPr>
              <a:t>https://athdgc.github.io/athdgc_press.html</a:t>
            </a:r>
          </a:p>
          <a:p>
            <a:pPr lvl="0"/>
            <a:r>
              <a:rPr/>
              <a:t>GitHub: </a:t>
            </a:r>
            <a:r>
              <a:rPr>
                <a:hlinkClick r:id="rId4"/>
              </a:rPr>
              <a:t>https://github.com/AthDGC</a:t>
            </a:r>
          </a:p>
          <a:p>
            <a:pPr lvl="0"/>
            <a:r>
              <a:rPr/>
              <a:t>HFRI project site: </a:t>
            </a:r>
            <a:r>
              <a:rPr>
                <a:hlinkClick r:id="rId5"/>
              </a:rPr>
              <a:t>https://athdgc.github.io/hfri2024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· Athens-PROIEL</dc:title>
  <dc:creator>Nikolaos Lavidas</dc:creator>
  <cp:keywords/>
  <dcterms:created xsi:type="dcterms:W3CDTF">2026-06-01T20:37:11Z</dcterms:created>
  <dcterms:modified xsi:type="dcterms:W3CDTF">2026-06-01T20:37:11Z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An open diachronic Greek treebank with Indo-European parallels</vt:lpwstr>
  </property>
  <property fmtid="{D5CDD505-2E9C-101B-9397-08002B2CF9AE}" pid="16" name="toc-title">
    <vt:lpwstr>Table of contents</vt:lpwstr>
  </property>
</Properties>
</file>