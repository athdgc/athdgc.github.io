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thdgc.github.io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5281/zenodo.20439182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thdgc.github.io" TargetMode="External" /><Relationship Id="rId3" Type="http://schemas.openxmlformats.org/officeDocument/2006/relationships/hyperlink" Target="https://doi.org/10.5281/zenodo.20439182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AthDGC, system demonstration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PROIEL-style treebank for the entire Greek language</a:t>
            </a:r>
            <a:br/>
            <a:br/>
            <a:r>
              <a:rPr/>
              <a:t>Nikolaos Lavidas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June 30,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AthDGC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PROIEL (the dependency-treebank (a collection of sentences whose grammatical structure has been analysed and stored) standard for early Indo-European languages, developed at Oslo)-style dependency treebank, Homer to Modern Greek - with NT verse-level cross-alignment to Latin / Gothic / Old Church Slavonic.</a:t>
            </a:r>
          </a:p>
          <a:p>
            <a:pPr lvl="0" indent="0" marL="0">
              <a:buNone/>
            </a:pPr>
            <a:r>
              <a:rPr/>
              <a:t>20-minute LREC-COLING system demo · Athens-PROIEL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agenda (20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i="1"/>
              <a:t>3 min</a:t>
            </a:r>
            <a:r>
              <a:rPr/>
              <a:t>, Overview + funding context</a:t>
            </a:r>
          </a:p>
          <a:p>
            <a:pPr lvl="0" indent="-342900" marL="342900">
              <a:buAutoNum type="arabicPeriod"/>
            </a:pPr>
            <a:r>
              <a:rPr i="1"/>
              <a:t>6 min</a:t>
            </a:r>
            <a:r>
              <a:rPr/>
              <a:t>, Live browse of the showcase: PROIEL tree + arg-structure cards</a:t>
            </a:r>
          </a:p>
          <a:p>
            <a:pPr lvl="0" indent="-342900" marL="342900">
              <a:buAutoNum type="arabicPeriod"/>
            </a:pPr>
            <a:r>
              <a:rPr i="1"/>
              <a:t>5 min</a:t>
            </a:r>
            <a:r>
              <a:rPr/>
              <a:t>, Live cross-alignment query (Neo4j (a graph database that stores data as nodes and connections rather than as tables)) across Greek/Latin/Gothic</a:t>
            </a:r>
          </a:p>
          <a:p>
            <a:pPr lvl="0" indent="-342900" marL="342900">
              <a:buAutoNum type="arabicPeriod"/>
            </a:pPr>
            <a:r>
              <a:rPr i="1"/>
              <a:t>3 min</a:t>
            </a:r>
            <a:r>
              <a:rPr/>
              <a:t>, Editor workflow: flag-for-review toolbar + corpus-side fix workflow</a:t>
            </a:r>
          </a:p>
          <a:p>
            <a:pPr lvl="0" indent="-342900" marL="342900">
              <a:buAutoNum type="arabicPeriod"/>
            </a:pPr>
            <a:r>
              <a:rPr i="1"/>
              <a:t>3 min</a:t>
            </a:r>
            <a:r>
              <a:rPr/>
              <a:t>, 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 step 1, browse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</a:t>
            </a:r>
            <a:r>
              <a:rPr>
                <a:hlinkClick r:id="rId2"/>
              </a:rPr>
              <a:t>https://athdgc.github.io</a:t>
            </a:r>
            <a:r>
              <a:rPr/>
              <a:t> in the browser.</a:t>
            </a:r>
          </a:p>
          <a:p>
            <a:pPr lvl="0" indent="0" marL="0">
              <a:buNone/>
            </a:pPr>
            <a:r>
              <a:rPr/>
              <a:t>Select </a:t>
            </a:r>
            <a:r>
              <a:rPr b="1"/>
              <a:t>Classical</a:t>
            </a:r>
            <a:r>
              <a:rPr/>
              <a:t> period tab. Click into a Plato </a:t>
            </a:r>
            <a:r>
              <a:rPr>
                <a:latin typeface="Courier"/>
              </a:rPr>
              <a:t>tlg0059.tlg022</a:t>
            </a:r>
            <a:r>
              <a:rPr/>
              <a:t> sample.</a:t>
            </a:r>
          </a:p>
          <a:p>
            <a:pPr lvl="0" indent="0" marL="0">
              <a:buNone/>
            </a:pPr>
            <a:r>
              <a:rPr/>
              <a:t>Observe:</a:t>
            </a:r>
          </a:p>
          <a:p>
            <a:pPr lvl="0"/>
            <a:r>
              <a:rPr/>
              <a:t>Greek sentence in Cardo / Old Standard TT</a:t>
            </a:r>
          </a:p>
          <a:p>
            <a:pPr lvl="0"/>
            <a:r>
              <a:rPr/>
              <a:t>PROIEL dependency tree (root at top, daughters indented)</a:t>
            </a:r>
          </a:p>
          <a:p>
            <a:pPr lvl="0"/>
            <a:r>
              <a:rPr/>
              <a:t>Per-verb argument-structure card (subj / obj / oblique / voice / aspect)</a:t>
            </a:r>
          </a:p>
          <a:p>
            <a:pPr lvl="0"/>
            <a:r>
              <a:rPr/>
              <a:t>Raw PROIEL XML (collapsible)</a:t>
            </a:r>
          </a:p>
          <a:p>
            <a:pPr lvl="0"/>
            <a:r>
              <a:rPr/>
              <a:t>Mark-for-review toolbar (state persisted to </a:t>
            </a:r>
            <a:r>
              <a:rPr>
                <a:latin typeface="Courier"/>
              </a:rPr>
              <a:t>localStorage</a:t>
            </a:r>
            <a:r>
              <a:rPr/>
              <a:t>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 step 2, cross-alignment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public Neo4j endpoint (https://athdgc.github.io/graph).</a:t>
            </a:r>
          </a:p>
          <a:p>
            <a:pPr lvl="0" indent="0" marL="0">
              <a:buNone/>
            </a:pPr>
            <a:r>
              <a:rPr/>
              <a:t>Run:</a:t>
            </a:r>
          </a:p>
          <a:p>
            <a:pPr lvl="0" indent="0">
              <a:buNone/>
            </a:pPr>
            <a:r>
              <a:rPr>
                <a:latin typeface="Courier"/>
              </a:rPr>
              <a:t>MATCH (gk:Token {language:"grc", upos:"VERB"})-[:TRANSLATED_AS]-&gt;(la:Token {language:"lat"})
WHERE gk.feats CONTAINS "Voice=Act" AND gk.feats CONTAINS "Aspect=Perf"
  AND la.feats CONTAINS "Voice=Pass"
RETURN gk.form, gk.lemma, la.form, la.lemma LIMIT 25</a:t>
            </a:r>
          </a:p>
          <a:p>
            <a:pPr lvl="0" indent="0" marL="0">
              <a:buNone/>
            </a:pPr>
            <a:r>
              <a:rPr/>
              <a:t>Returns Greek aorist active verbs whose Vulgate counterpart is passive.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 step 3, editor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showcase: click </a:t>
            </a:r>
            <a:r>
              <a:rPr b="1"/>
              <a:t>Mark for review</a:t>
            </a:r>
            <a:r>
              <a:rPr/>
              <a:t> on a problematic sample.</a:t>
            </a:r>
          </a:p>
          <a:p>
            <a:pPr lvl="0" indent="0" marL="0">
              <a:buNone/>
            </a:pPr>
            <a:r>
              <a:rPr/>
              <a:t>The flag is stored in </a:t>
            </a:r>
            <a:r>
              <a:rPr>
                <a:latin typeface="Courier"/>
              </a:rPr>
              <a:t>localStorage</a:t>
            </a:r>
            <a:r>
              <a:rPr/>
              <a:t> and persists across reloads. Export current review state via the console: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athdgcExportReview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This JSON (a plain-text data format for structured records) is then handed to the corpus-side </a:t>
            </a:r>
            <a:r>
              <a:rPr>
                <a:latin typeface="Courier"/>
              </a:rPr>
              <a:t>fix_corpus_data.py</a:t>
            </a:r>
            <a:r>
              <a:rPr/>
              <a:t> which applies bulk corrections on ARIS.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43_discover_sources.py</a:t>
                      </a:r>
                      <a:r>
                        <a:rPr/>
                        <a:t> - daily cron on ARIS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44_filter_candidates.py</a:t>
                      </a:r>
                      <a:r>
                        <a:rPr/>
                        <a:t> - Greek-script + apparatus filters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OCR (Optical Character Recognition, the conversion of scanned page images into searchable text) / Conversion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45_ocr_candidates.sbatch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46_to_proiel_xml.py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Annotation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47_annotate_inbox.sbatch</a:t>
                      </a:r>
                      <a:r>
                        <a:rPr/>
                        <a:t> - Stanza (Stanford’s open-source Python workflow that automatically tags, lemmatises, and parses sentences) on A100 GPU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48_merge_xml_to_corpus.py</a:t>
                      </a:r>
                      <a:r>
                        <a:rPr/>
                        <a:t> - JSONL (a plain-text data format that stores one record per line) partitioning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Corpus fix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fix_corpus_data.py</a:t>
                      </a:r>
                      <a:r>
                        <a:rPr/>
                        <a:t> - TLG author override + Stanza error fixes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Showcase build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51_build_showcase_site.py</a:t>
                      </a:r>
                      <a:r>
                        <a:rPr/>
                        <a:t> - regenerates HTML from JSONL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deploy_athdgc_v2.ps1</a:t>
                      </a:r>
                      <a:r>
                        <a:rPr/>
                        <a:t> - scp + git push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Per-period JSONL partitions for fine-tuning Greek diachronic transformers</a:t>
            </a:r>
          </a:p>
          <a:p>
            <a:pPr lvl="0"/>
            <a:r>
              <a:rPr/>
              <a:t>PROIEL XML 2.0 (the file format that stores each sentence as a tree of word-by-word grammatical relations, developed at Oslo) export compatible with Oslo PROIEL tools</a:t>
            </a:r>
          </a:p>
          <a:p>
            <a:pPr lvl="0"/>
            <a:r>
              <a:rPr/>
              <a:t>Neo4j alignment graph (a database that records which token in language A corresponds to which token in language B) for cross-linguistic queries</a:t>
            </a:r>
          </a:p>
          <a:p>
            <a:pPr lvl="0"/>
            <a:r>
              <a:rPr/>
              <a:t>Public Hugging Face (a public hosting platform for machine-learning models and datasets) dataset (forthcoming)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+ cite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 code: github.com/AthDGC/Diachronic-Linguistics-Platform (Apache-2.0 (a permissive open-source licence widely used for software))</a:t>
            </a:r>
          </a:p>
          <a:p>
            <a:pPr lvl="0"/>
            <a:r>
              <a:rPr/>
              <a:t>Dataset: </a:t>
            </a:r>
            <a:r>
              <a:rPr>
                <a:hlinkClick r:id="rId2"/>
              </a:rPr>
              <a:t>10.5281/zenodo.20439182</a:t>
            </a:r>
            <a:r>
              <a:rPr/>
              <a:t> (CC-BY-4.0 (the Creative Commons Attribution 4.0 licence, which permits reuse with credit))</a:t>
            </a:r>
          </a:p>
          <a:p>
            <a:pPr lvl="0" indent="0" marL="0">
              <a:buNone/>
            </a:pPr>
            <a:r>
              <a:rPr/>
              <a:t>Lavidas, N., Nikiforidou, K., Haug, D., Kulikov, L., Geka, V., Symeonidis, V., Michalareas, T., Chionidi, S., Tsiropina, A., Plakoutsi, E., and Argyropoulos, E. (2026). </a:t>
            </a:r>
            <a:r>
              <a:rPr i="1"/>
              <a:t>AthDGC: Athens Digital Glossa Chronos</a:t>
            </a:r>
            <a:r>
              <a:rPr/>
              <a:t>. Zenodo.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Funded by </a:t>
            </a:r>
            <a:r>
              <a:rPr b="1"/>
              <a:t>HFRI</a:t>
            </a:r>
            <a:r>
              <a:rPr/>
              <a:t> (Project No. 20577) · </a:t>
            </a:r>
            <a:r>
              <a:rPr b="1"/>
              <a:t>Greece 2.0 NRRP</a:t>
            </a:r>
            <a:r>
              <a:rPr/>
              <a:t> Compute: </a:t>
            </a:r>
            <a:r>
              <a:rPr b="1"/>
              <a:t>GRNET ARIS (the Greek national high-performance computing cluster, run by GRNET)</a:t>
            </a:r>
            <a:r>
              <a:rPr/>
              <a:t> (</a:t>
            </a:r>
            <a:r>
              <a:rPr>
                <a:latin typeface="Courier"/>
              </a:rPr>
              <a:t>pa260305</a:t>
            </a:r>
            <a:r>
              <a:rPr/>
              <a:t>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athdgc.github.io</a:t>
            </a:r>
            <a:r>
              <a:rPr/>
              <a:t> </a:t>
            </a:r>
            <a:r>
              <a:rPr>
                <a:hlinkClick r:id="rId3"/>
              </a:rPr>
              <a:t>10.5281/zenodo.20439182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Funded by the </a:t>
            </a:r>
            <a:r>
              <a:rPr b="1"/>
              <a:t>Hellenic Foundation for Research and Innovation (HFRI)</a:t>
            </a:r>
            <a:r>
              <a:rPr/>
              <a:t> under the 3rd Call for HFRI Research Projects to support Post-Doctoral Researchers, </a:t>
            </a:r>
            <a:r>
              <a:rPr b="1"/>
              <a:t>Project No. 20577</a:t>
            </a:r>
            <a:r>
              <a:rPr/>
              <a:t>; with complementary support from the </a:t>
            </a:r>
            <a:r>
              <a:rPr b="1"/>
              <a:t>Greece 2.0 National Recovery and Resilience Plan</a:t>
            </a:r>
            <a:r>
              <a:rPr/>
              <a:t>. Compute supplied by </a:t>
            </a:r>
            <a:r>
              <a:rPr b="1"/>
              <a:t>GRNET ARIS</a:t>
            </a:r>
            <a:r>
              <a:rPr/>
              <a:t> (Greek national HPC (high-performance computing, i.e. a cluster of fast machines used for heavy computation)), allocation </a:t>
            </a:r>
            <a:r>
              <a:rPr>
                <a:latin typeface="Courier"/>
              </a:rPr>
              <a:t>pa260305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AthDGC, system demonstration</dc:title>
  <dc:creator>Nikolaos Lavidas</dc:creator>
  <cp:keywords/>
  <dcterms:created xsi:type="dcterms:W3CDTF">2026-06-19T20:08:51Z</dcterms:created>
  <dcterms:modified xsi:type="dcterms:W3CDTF">2026-06-19T20:08:51Z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June 30, 2026</vt:lpwstr>
  </property>
  <property fmtid="{D5CDD505-2E9C-101B-9397-08002B2CF9AE}" pid="9" name="date-format">
    <vt:lpwstr>long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subtitle">
    <vt:lpwstr>Open PROIEL-style treebank for the entire Greek language</vt:lpwstr>
  </property>
  <property fmtid="{D5CDD505-2E9C-101B-9397-08002B2CF9AE}" pid="16" name="toc-title">
    <vt:lpwstr>Table of contents</vt:lpwstr>
  </property>
</Properties>
</file>